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753600" cy="7315200"/>
  <p:notesSz cx="6858000" cy="9144000"/>
  <p:embeddedFontLst>
    <p:embeddedFont>
      <p:font typeface="Calibri (MS)" panose="020B0604020202020204" charset="0"/>
      <p:regular r:id="rId12"/>
    </p:embeddedFont>
    <p:embeddedFont>
      <p:font typeface="Calibri (MS) Bold" panose="020B0604020202020204" charset="0"/>
      <p:regular r:id="rId13"/>
    </p:embeddedFont>
    <p:embeddedFont>
      <p:font typeface="Canva Sans" panose="020B0604020202020204" charset="0"/>
      <p:regular r:id="rId14"/>
    </p:embeddedFont>
    <p:embeddedFont>
      <p:font typeface="Canva Sans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773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bhi tiwari" userId="e7d4fa6eb638f400" providerId="LiveId" clId="{D9103A36-92EF-4C0B-935E-20ACB22C2699}"/>
    <pc:docChg chg="undo custSel modSld">
      <pc:chgData name="subhi tiwari" userId="e7d4fa6eb638f400" providerId="LiveId" clId="{D9103A36-92EF-4C0B-935E-20ACB22C2699}" dt="2026-04-15T18:02:01.352" v="105" actId="20577"/>
      <pc:docMkLst>
        <pc:docMk/>
      </pc:docMkLst>
      <pc:sldChg chg="modSp mod">
        <pc:chgData name="subhi tiwari" userId="e7d4fa6eb638f400" providerId="LiveId" clId="{D9103A36-92EF-4C0B-935E-20ACB22C2699}" dt="2026-04-15T18:02:01.352" v="105" actId="20577"/>
        <pc:sldMkLst>
          <pc:docMk/>
          <pc:sldMk cId="0" sldId="256"/>
        </pc:sldMkLst>
        <pc:spChg chg="mod">
          <ac:chgData name="subhi tiwari" userId="e7d4fa6eb638f400" providerId="LiveId" clId="{D9103A36-92EF-4C0B-935E-20ACB22C2699}" dt="2026-04-15T18:02:01.352" v="105" actId="20577"/>
          <ac:spMkLst>
            <pc:docMk/>
            <pc:sldMk cId="0" sldId="256"/>
            <ac:spMk id="1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CFCF9">
                <a:alpha val="100000"/>
              </a:srgbClr>
            </a:gs>
            <a:gs pos="74000">
              <a:srgbClr val="E4E1C6">
                <a:alpha val="100000"/>
              </a:srgbClr>
            </a:gs>
            <a:gs pos="83000">
              <a:srgbClr val="E4E1C6">
                <a:alpha val="100000"/>
              </a:srgbClr>
            </a:gs>
            <a:gs pos="100000">
              <a:srgbClr val="EDEBD9">
                <a:alpha val="100000"/>
              </a:srgb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827520"/>
            <a:ext cx="9753600" cy="487680"/>
            <a:chOff x="0" y="0"/>
            <a:chExt cx="13004800" cy="6502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6756606"/>
            <a:ext cx="9753600" cy="70399"/>
            <a:chOff x="0" y="0"/>
            <a:chExt cx="13004800" cy="938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04800" cy="93853"/>
            </a:xfrm>
            <a:custGeom>
              <a:avLst/>
              <a:gdLst/>
              <a:ahLst/>
              <a:cxnLst/>
              <a:rect l="l" t="t" r="r" b="b"/>
              <a:pathLst>
                <a:path w="13004800" h="93853">
                  <a:moveTo>
                    <a:pt x="0" y="0"/>
                  </a:moveTo>
                  <a:lnTo>
                    <a:pt x="13004800" y="0"/>
                  </a:lnTo>
                  <a:lnTo>
                    <a:pt x="13004800" y="93853"/>
                  </a:lnTo>
                  <a:lnTo>
                    <a:pt x="0" y="93853"/>
                  </a:lnTo>
                  <a:close/>
                </a:path>
              </a:pathLst>
            </a:custGeom>
            <a:solidFill>
              <a:srgbClr val="E4831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1024623"/>
            <a:ext cx="9751057" cy="426787"/>
            <a:chOff x="0" y="0"/>
            <a:chExt cx="13001409" cy="5690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01371" cy="569087"/>
            </a:xfrm>
            <a:custGeom>
              <a:avLst/>
              <a:gdLst/>
              <a:ahLst/>
              <a:cxnLst/>
              <a:rect l="l" t="t" r="r" b="b"/>
              <a:pathLst>
                <a:path w="13001371" h="569087">
                  <a:moveTo>
                    <a:pt x="0" y="0"/>
                  </a:moveTo>
                  <a:lnTo>
                    <a:pt x="13001371" y="0"/>
                  </a:lnTo>
                  <a:lnTo>
                    <a:pt x="13001371" y="569087"/>
                  </a:lnTo>
                  <a:lnTo>
                    <a:pt x="0" y="569087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/>
          <p:cNvSpPr/>
          <p:nvPr/>
        </p:nvSpPr>
        <p:spPr>
          <a:xfrm>
            <a:off x="1704423" y="-13545"/>
            <a:ext cx="6195993" cy="842353"/>
          </a:xfrm>
          <a:custGeom>
            <a:avLst/>
            <a:gdLst/>
            <a:ahLst/>
            <a:cxnLst/>
            <a:rect l="l" t="t" r="r" b="b"/>
            <a:pathLst>
              <a:path w="6195993" h="842353">
                <a:moveTo>
                  <a:pt x="0" y="0"/>
                </a:moveTo>
                <a:lnTo>
                  <a:pt x="6195993" y="0"/>
                </a:lnTo>
                <a:lnTo>
                  <a:pt x="6195993" y="842353"/>
                </a:lnTo>
                <a:lnTo>
                  <a:pt x="0" y="8423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65221" b="-32358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2543" y="6827520"/>
            <a:ext cx="9751057" cy="487680"/>
            <a:chOff x="0" y="0"/>
            <a:chExt cx="13001409" cy="6502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001371" cy="650240"/>
            </a:xfrm>
            <a:custGeom>
              <a:avLst/>
              <a:gdLst/>
              <a:ahLst/>
              <a:cxnLst/>
              <a:rect l="l" t="t" r="r" b="b"/>
              <a:pathLst>
                <a:path w="13001371" h="650240">
                  <a:moveTo>
                    <a:pt x="0" y="0"/>
                  </a:moveTo>
                  <a:lnTo>
                    <a:pt x="13001371" y="0"/>
                  </a:lnTo>
                  <a:lnTo>
                    <a:pt x="13001371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" y="6756606"/>
            <a:ext cx="9751057" cy="68275"/>
            <a:chOff x="0" y="0"/>
            <a:chExt cx="13001409" cy="910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001371" cy="91059"/>
            </a:xfrm>
            <a:custGeom>
              <a:avLst/>
              <a:gdLst/>
              <a:ahLst/>
              <a:cxnLst/>
              <a:rect l="l" t="t" r="r" b="b"/>
              <a:pathLst>
                <a:path w="13001371" h="91059">
                  <a:moveTo>
                    <a:pt x="0" y="0"/>
                  </a:moveTo>
                  <a:lnTo>
                    <a:pt x="13001371" y="0"/>
                  </a:lnTo>
                  <a:lnTo>
                    <a:pt x="13001371" y="91059"/>
                  </a:lnTo>
                  <a:lnTo>
                    <a:pt x="0" y="91059"/>
                  </a:lnTo>
                  <a:close/>
                </a:path>
              </a:pathLst>
            </a:custGeom>
            <a:solidFill>
              <a:srgbClr val="E4831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0" y="1024623"/>
            <a:ext cx="9751057" cy="426787"/>
            <a:chOff x="0" y="0"/>
            <a:chExt cx="13001409" cy="56904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001371" cy="569087"/>
            </a:xfrm>
            <a:custGeom>
              <a:avLst/>
              <a:gdLst/>
              <a:ahLst/>
              <a:cxnLst/>
              <a:rect l="l" t="t" r="r" b="b"/>
              <a:pathLst>
                <a:path w="13001371" h="569087">
                  <a:moveTo>
                    <a:pt x="0" y="0"/>
                  </a:moveTo>
                  <a:lnTo>
                    <a:pt x="13001371" y="0"/>
                  </a:lnTo>
                  <a:lnTo>
                    <a:pt x="13001371" y="569087"/>
                  </a:lnTo>
                  <a:lnTo>
                    <a:pt x="0" y="569087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Freeform 15"/>
          <p:cNvSpPr/>
          <p:nvPr/>
        </p:nvSpPr>
        <p:spPr>
          <a:xfrm>
            <a:off x="1704423" y="-111452"/>
            <a:ext cx="6195993" cy="1038168"/>
          </a:xfrm>
          <a:custGeom>
            <a:avLst/>
            <a:gdLst/>
            <a:ahLst/>
            <a:cxnLst/>
            <a:rect l="l" t="t" r="r" b="b"/>
            <a:pathLst>
              <a:path w="6195993" h="1038168">
                <a:moveTo>
                  <a:pt x="0" y="0"/>
                </a:moveTo>
                <a:lnTo>
                  <a:pt x="6195993" y="0"/>
                </a:lnTo>
                <a:lnTo>
                  <a:pt x="6195993" y="1038168"/>
                </a:lnTo>
                <a:lnTo>
                  <a:pt x="0" y="1038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65221" b="-739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731520" y="2179934"/>
            <a:ext cx="7654294" cy="2645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92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Title:</a:t>
            </a:r>
            <a:r>
              <a:rPr lang="en-US" sz="192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HYDROBLOOM</a:t>
            </a:r>
          </a:p>
          <a:p>
            <a:pPr algn="l">
              <a:lnSpc>
                <a:spcPts val="3456"/>
              </a:lnSpc>
            </a:pPr>
            <a:r>
              <a:rPr lang="en-US" sz="192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Branch / Year:</a:t>
            </a:r>
            <a:r>
              <a:rPr lang="en-US" sz="192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CSE 3RD YEAR</a:t>
            </a:r>
          </a:p>
          <a:p>
            <a:pPr algn="l">
              <a:lnSpc>
                <a:spcPts val="3456"/>
              </a:lnSpc>
            </a:pPr>
            <a:r>
              <a:rPr lang="en-US" sz="192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Name 1/Enrollment number</a:t>
            </a:r>
            <a:r>
              <a:rPr lang="en-US" sz="192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: SUBHI TIWARI / 0818CS231197</a:t>
            </a:r>
          </a:p>
          <a:p>
            <a:pPr algn="l">
              <a:lnSpc>
                <a:spcPts val="3456"/>
              </a:lnSpc>
            </a:pPr>
            <a:r>
              <a:rPr lang="en-US" sz="192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Name 2/Enrollment number :</a:t>
            </a:r>
            <a:r>
              <a:rPr lang="en-US" sz="192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SHREYA LATHI / 0818CS231180</a:t>
            </a:r>
          </a:p>
          <a:p>
            <a:pPr algn="l">
              <a:lnSpc>
                <a:spcPts val="3456"/>
              </a:lnSpc>
            </a:pPr>
            <a:r>
              <a:rPr lang="en-US" sz="192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Name 3/Enrollment number </a:t>
            </a:r>
            <a:r>
              <a:rPr lang="en-US" sz="192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:</a:t>
            </a:r>
            <a:r>
              <a:rPr lang="en-US" sz="192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YATNESH PURANIK /0818CS231230 </a:t>
            </a:r>
            <a:endParaRPr lang="en-US" sz="192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3456"/>
              </a:lnSpc>
            </a:pPr>
            <a:r>
              <a:rPr lang="en-US" sz="1920" b="1" u="sng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GUIDE - </a:t>
            </a:r>
            <a:r>
              <a:rPr lang="en-US" sz="1920" u="sng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DR. RICHA GUPTA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CFCF9">
                <a:alpha val="100000"/>
              </a:srgbClr>
            </a:gs>
            <a:gs pos="74000">
              <a:srgbClr val="E4E1C6">
                <a:alpha val="100000"/>
              </a:srgbClr>
            </a:gs>
            <a:gs pos="83000">
              <a:srgbClr val="E4E1C6">
                <a:alpha val="100000"/>
              </a:srgbClr>
            </a:gs>
            <a:gs pos="100000">
              <a:srgbClr val="EDEBD9">
                <a:alpha val="100000"/>
              </a:srgb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827520"/>
            <a:ext cx="9753600" cy="487680"/>
            <a:chOff x="0" y="0"/>
            <a:chExt cx="13004800" cy="6502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6756606"/>
            <a:ext cx="9753600" cy="70399"/>
            <a:chOff x="0" y="0"/>
            <a:chExt cx="13004800" cy="938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04800" cy="93853"/>
            </a:xfrm>
            <a:custGeom>
              <a:avLst/>
              <a:gdLst/>
              <a:ahLst/>
              <a:cxnLst/>
              <a:rect l="l" t="t" r="r" b="b"/>
              <a:pathLst>
                <a:path w="13004800" h="93853">
                  <a:moveTo>
                    <a:pt x="0" y="0"/>
                  </a:moveTo>
                  <a:lnTo>
                    <a:pt x="13004800" y="0"/>
                  </a:lnTo>
                  <a:lnTo>
                    <a:pt x="13004800" y="93853"/>
                  </a:lnTo>
                  <a:lnTo>
                    <a:pt x="0" y="93853"/>
                  </a:lnTo>
                  <a:close/>
                </a:path>
              </a:pathLst>
            </a:custGeom>
            <a:solidFill>
              <a:srgbClr val="E4831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1024623"/>
            <a:ext cx="9751057" cy="426787"/>
            <a:chOff x="0" y="0"/>
            <a:chExt cx="13001409" cy="5690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01371" cy="569087"/>
            </a:xfrm>
            <a:custGeom>
              <a:avLst/>
              <a:gdLst/>
              <a:ahLst/>
              <a:cxnLst/>
              <a:rect l="l" t="t" r="r" b="b"/>
              <a:pathLst>
                <a:path w="13001371" h="569087">
                  <a:moveTo>
                    <a:pt x="0" y="0"/>
                  </a:moveTo>
                  <a:lnTo>
                    <a:pt x="13001371" y="0"/>
                  </a:lnTo>
                  <a:lnTo>
                    <a:pt x="13001371" y="569087"/>
                  </a:lnTo>
                  <a:lnTo>
                    <a:pt x="0" y="569087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/>
          <p:cNvSpPr/>
          <p:nvPr/>
        </p:nvSpPr>
        <p:spPr>
          <a:xfrm>
            <a:off x="1704423" y="-13545"/>
            <a:ext cx="6195993" cy="842353"/>
          </a:xfrm>
          <a:custGeom>
            <a:avLst/>
            <a:gdLst/>
            <a:ahLst/>
            <a:cxnLst/>
            <a:rect l="l" t="t" r="r" b="b"/>
            <a:pathLst>
              <a:path w="6195993" h="842353">
                <a:moveTo>
                  <a:pt x="0" y="0"/>
                </a:moveTo>
                <a:lnTo>
                  <a:pt x="6195993" y="0"/>
                </a:lnTo>
                <a:lnTo>
                  <a:pt x="6195993" y="842353"/>
                </a:lnTo>
                <a:lnTo>
                  <a:pt x="0" y="8423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65221" b="-32358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2543" y="6827520"/>
            <a:ext cx="9751057" cy="487680"/>
            <a:chOff x="0" y="0"/>
            <a:chExt cx="13001409" cy="6502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001371" cy="650240"/>
            </a:xfrm>
            <a:custGeom>
              <a:avLst/>
              <a:gdLst/>
              <a:ahLst/>
              <a:cxnLst/>
              <a:rect l="l" t="t" r="r" b="b"/>
              <a:pathLst>
                <a:path w="13001371" h="650240">
                  <a:moveTo>
                    <a:pt x="0" y="0"/>
                  </a:moveTo>
                  <a:lnTo>
                    <a:pt x="13001371" y="0"/>
                  </a:lnTo>
                  <a:lnTo>
                    <a:pt x="13001371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" y="6756606"/>
            <a:ext cx="9751057" cy="68275"/>
            <a:chOff x="0" y="0"/>
            <a:chExt cx="13001409" cy="910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001371" cy="91059"/>
            </a:xfrm>
            <a:custGeom>
              <a:avLst/>
              <a:gdLst/>
              <a:ahLst/>
              <a:cxnLst/>
              <a:rect l="l" t="t" r="r" b="b"/>
              <a:pathLst>
                <a:path w="13001371" h="91059">
                  <a:moveTo>
                    <a:pt x="0" y="0"/>
                  </a:moveTo>
                  <a:lnTo>
                    <a:pt x="13001371" y="0"/>
                  </a:lnTo>
                  <a:lnTo>
                    <a:pt x="13001371" y="91059"/>
                  </a:lnTo>
                  <a:lnTo>
                    <a:pt x="0" y="91059"/>
                  </a:lnTo>
                  <a:close/>
                </a:path>
              </a:pathLst>
            </a:custGeom>
            <a:solidFill>
              <a:srgbClr val="E4831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Freeform 13"/>
          <p:cNvSpPr/>
          <p:nvPr/>
        </p:nvSpPr>
        <p:spPr>
          <a:xfrm>
            <a:off x="1704423" y="-104804"/>
            <a:ext cx="5850188" cy="1038415"/>
          </a:xfrm>
          <a:custGeom>
            <a:avLst/>
            <a:gdLst/>
            <a:ahLst/>
            <a:cxnLst/>
            <a:rect l="l" t="t" r="r" b="b"/>
            <a:pathLst>
              <a:path w="5850188" h="1038415">
                <a:moveTo>
                  <a:pt x="0" y="0"/>
                </a:moveTo>
                <a:lnTo>
                  <a:pt x="5850188" y="0"/>
                </a:lnTo>
                <a:lnTo>
                  <a:pt x="5850188" y="1038416"/>
                </a:lnTo>
                <a:lnTo>
                  <a:pt x="0" y="1038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4149" b="-685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75861" y="939694"/>
            <a:ext cx="9751057" cy="444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  <a:spcBef>
                <a:spcPct val="0"/>
              </a:spcBef>
            </a:pPr>
            <a:r>
              <a:rPr lang="en-US" sz="192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STATEMENT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22577" y="1527610"/>
            <a:ext cx="8986693" cy="516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16"/>
              </a:lnSpc>
            </a:pPr>
            <a:r>
              <a:rPr lang="en-US" sz="162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As urbanization increases and water resources decline, effective rooftop rainwater harvesting and artificial recharge planning becomes essential. However, several challenges hinder its adoption and optimization:</a:t>
            </a:r>
          </a:p>
          <a:p>
            <a:pPr algn="just">
              <a:lnSpc>
                <a:spcPts val="2916"/>
              </a:lnSpc>
            </a:pPr>
            <a:endParaRPr lang="en-US" sz="162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just">
              <a:lnSpc>
                <a:spcPts val="2916"/>
              </a:lnSpc>
            </a:pPr>
            <a:r>
              <a:rPr lang="en-US" sz="162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💧 Feasibility Confusion </a:t>
            </a:r>
            <a:r>
              <a:rPr lang="en-US" sz="162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→ Users lack instant tools to assess whether their rooftop is suitable for</a:t>
            </a:r>
          </a:p>
          <a:p>
            <a:pPr algn="just">
              <a:lnSpc>
                <a:spcPts val="2916"/>
              </a:lnSpc>
            </a:pPr>
            <a:r>
              <a:rPr lang="en-US" sz="162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rainwater harvesting.</a:t>
            </a:r>
          </a:p>
          <a:p>
            <a:pPr algn="just">
              <a:lnSpc>
                <a:spcPts val="2916"/>
              </a:lnSpc>
            </a:pPr>
            <a:r>
              <a:rPr lang="en-US" sz="162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📏 Inaccurate Capacity Estimation</a:t>
            </a:r>
            <a:r>
              <a:rPr lang="en-US" sz="162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→ Manual calculations lead to errors in storage sizing and system design.</a:t>
            </a:r>
          </a:p>
          <a:p>
            <a:pPr algn="just">
              <a:lnSpc>
                <a:spcPts val="2916"/>
              </a:lnSpc>
            </a:pPr>
            <a:r>
              <a:rPr lang="en-US" sz="162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⏱️ Time-Consuming Evaluation </a:t>
            </a:r>
            <a:r>
              <a:rPr lang="en-US" sz="162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  <a:r>
              <a:rPr lang="en-US" sz="162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Traditional assessment methods are slow and require technical expertise.</a:t>
            </a:r>
          </a:p>
          <a:p>
            <a:pPr algn="just">
              <a:lnSpc>
                <a:spcPts val="2916"/>
              </a:lnSpc>
            </a:pPr>
            <a:r>
              <a:rPr lang="en-US" sz="162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📉 Low Awareness &amp; Adoption </a:t>
            </a:r>
            <a:r>
              <a:rPr lang="en-US" sz="162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→</a:t>
            </a:r>
            <a:r>
              <a:rPr lang="en-US" sz="162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162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Communities lack clear, data-driven insights to make informed water-conservation decisions.</a:t>
            </a:r>
          </a:p>
          <a:p>
            <a:pPr algn="just">
              <a:lnSpc>
                <a:spcPts val="2916"/>
              </a:lnSpc>
            </a:pPr>
            <a:r>
              <a:rPr lang="en-US" sz="162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🌍 Inefficient Groundwater Recharge </a:t>
            </a:r>
            <a:r>
              <a:rPr lang="en-US" sz="162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→ Absence of smart automation limits effective artificial recharge planning.</a:t>
            </a:r>
          </a:p>
          <a:p>
            <a:pPr algn="l">
              <a:lnSpc>
                <a:spcPts val="2916"/>
              </a:lnSpc>
              <a:spcBef>
                <a:spcPct val="0"/>
              </a:spcBef>
            </a:pPr>
            <a:endParaRPr lang="en-US" sz="1620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CFCF9">
                <a:alpha val="100000"/>
              </a:srgbClr>
            </a:gs>
            <a:gs pos="74000">
              <a:srgbClr val="E4E1C6">
                <a:alpha val="100000"/>
              </a:srgbClr>
            </a:gs>
            <a:gs pos="83000">
              <a:srgbClr val="E4E1C6">
                <a:alpha val="100000"/>
              </a:srgbClr>
            </a:gs>
            <a:gs pos="100000">
              <a:srgbClr val="EDEBD9">
                <a:alpha val="100000"/>
              </a:srgb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827520"/>
            <a:ext cx="9753600" cy="487680"/>
            <a:chOff x="0" y="0"/>
            <a:chExt cx="13004800" cy="6502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6756606"/>
            <a:ext cx="9753600" cy="70399"/>
            <a:chOff x="0" y="0"/>
            <a:chExt cx="13004800" cy="938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04800" cy="93853"/>
            </a:xfrm>
            <a:custGeom>
              <a:avLst/>
              <a:gdLst/>
              <a:ahLst/>
              <a:cxnLst/>
              <a:rect l="l" t="t" r="r" b="b"/>
              <a:pathLst>
                <a:path w="13004800" h="93853">
                  <a:moveTo>
                    <a:pt x="0" y="0"/>
                  </a:moveTo>
                  <a:lnTo>
                    <a:pt x="13004800" y="0"/>
                  </a:lnTo>
                  <a:lnTo>
                    <a:pt x="13004800" y="93853"/>
                  </a:lnTo>
                  <a:lnTo>
                    <a:pt x="0" y="93853"/>
                  </a:lnTo>
                  <a:close/>
                </a:path>
              </a:pathLst>
            </a:custGeom>
            <a:solidFill>
              <a:srgbClr val="E4831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1024623"/>
            <a:ext cx="9751057" cy="426787"/>
            <a:chOff x="0" y="0"/>
            <a:chExt cx="13001409" cy="5690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01371" cy="569087"/>
            </a:xfrm>
            <a:custGeom>
              <a:avLst/>
              <a:gdLst/>
              <a:ahLst/>
              <a:cxnLst/>
              <a:rect l="l" t="t" r="r" b="b"/>
              <a:pathLst>
                <a:path w="13001371" h="569087">
                  <a:moveTo>
                    <a:pt x="0" y="0"/>
                  </a:moveTo>
                  <a:lnTo>
                    <a:pt x="13001371" y="0"/>
                  </a:lnTo>
                  <a:lnTo>
                    <a:pt x="13001371" y="569087"/>
                  </a:lnTo>
                  <a:lnTo>
                    <a:pt x="0" y="569087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/>
          <p:cNvSpPr/>
          <p:nvPr/>
        </p:nvSpPr>
        <p:spPr>
          <a:xfrm>
            <a:off x="1704423" y="-13545"/>
            <a:ext cx="6195993" cy="842353"/>
          </a:xfrm>
          <a:custGeom>
            <a:avLst/>
            <a:gdLst/>
            <a:ahLst/>
            <a:cxnLst/>
            <a:rect l="l" t="t" r="r" b="b"/>
            <a:pathLst>
              <a:path w="6195993" h="842353">
                <a:moveTo>
                  <a:pt x="0" y="0"/>
                </a:moveTo>
                <a:lnTo>
                  <a:pt x="6195993" y="0"/>
                </a:lnTo>
                <a:lnTo>
                  <a:pt x="6195993" y="842353"/>
                </a:lnTo>
                <a:lnTo>
                  <a:pt x="0" y="8423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65221" b="-32358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2543" y="6827520"/>
            <a:ext cx="9751057" cy="487680"/>
            <a:chOff x="0" y="0"/>
            <a:chExt cx="13001409" cy="6502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001371" cy="650240"/>
            </a:xfrm>
            <a:custGeom>
              <a:avLst/>
              <a:gdLst/>
              <a:ahLst/>
              <a:cxnLst/>
              <a:rect l="l" t="t" r="r" b="b"/>
              <a:pathLst>
                <a:path w="13001371" h="650240">
                  <a:moveTo>
                    <a:pt x="0" y="0"/>
                  </a:moveTo>
                  <a:lnTo>
                    <a:pt x="13001371" y="0"/>
                  </a:lnTo>
                  <a:lnTo>
                    <a:pt x="13001371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" y="6756606"/>
            <a:ext cx="9751057" cy="68275"/>
            <a:chOff x="0" y="0"/>
            <a:chExt cx="13001409" cy="910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001371" cy="91059"/>
            </a:xfrm>
            <a:custGeom>
              <a:avLst/>
              <a:gdLst/>
              <a:ahLst/>
              <a:cxnLst/>
              <a:rect l="l" t="t" r="r" b="b"/>
              <a:pathLst>
                <a:path w="13001371" h="91059">
                  <a:moveTo>
                    <a:pt x="0" y="0"/>
                  </a:moveTo>
                  <a:lnTo>
                    <a:pt x="13001371" y="0"/>
                  </a:lnTo>
                  <a:lnTo>
                    <a:pt x="13001371" y="91059"/>
                  </a:lnTo>
                  <a:lnTo>
                    <a:pt x="0" y="91059"/>
                  </a:lnTo>
                  <a:close/>
                </a:path>
              </a:pathLst>
            </a:custGeom>
            <a:solidFill>
              <a:srgbClr val="E4831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Freeform 13"/>
          <p:cNvSpPr/>
          <p:nvPr/>
        </p:nvSpPr>
        <p:spPr>
          <a:xfrm>
            <a:off x="1704423" y="-104804"/>
            <a:ext cx="5850188" cy="1038415"/>
          </a:xfrm>
          <a:custGeom>
            <a:avLst/>
            <a:gdLst/>
            <a:ahLst/>
            <a:cxnLst/>
            <a:rect l="l" t="t" r="r" b="b"/>
            <a:pathLst>
              <a:path w="5850188" h="1038415">
                <a:moveTo>
                  <a:pt x="0" y="0"/>
                </a:moveTo>
                <a:lnTo>
                  <a:pt x="5850188" y="0"/>
                </a:lnTo>
                <a:lnTo>
                  <a:pt x="5850188" y="1038416"/>
                </a:lnTo>
                <a:lnTo>
                  <a:pt x="0" y="1038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4149" b="-685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2543" y="939694"/>
            <a:ext cx="2815163" cy="444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sz="192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PROPOSED SOLUTION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7258" y="1622860"/>
            <a:ext cx="9036775" cy="4933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40"/>
              </a:lnSpc>
            </a:pPr>
            <a:r>
              <a:rPr lang="en-US" sz="152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🌧️ Smart Water Consultant App</a:t>
            </a:r>
          </a:p>
          <a:p>
            <a:pPr algn="just">
              <a:lnSpc>
                <a:spcPts val="2000"/>
              </a:lnSpc>
            </a:pPr>
            <a:r>
              <a:rPr lang="en-US" sz="142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 unified smart mobile &amp; web platform that instantly evaluates Rooftop Rainwater Harvesting (RTRWH) and Artificial Recharge (AR) potential, enabling sustainable water management for homes and communities.</a:t>
            </a:r>
          </a:p>
          <a:p>
            <a:pPr algn="just">
              <a:lnSpc>
                <a:spcPts val="2140"/>
              </a:lnSpc>
            </a:pPr>
            <a:endParaRPr lang="en-US" sz="142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2140"/>
              </a:lnSpc>
            </a:pPr>
            <a:r>
              <a:rPr lang="en-US" sz="152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📲 Smart Access &amp; Automation</a:t>
            </a:r>
          </a:p>
          <a:p>
            <a:pPr marL="308574" lvl="1" indent="-154287" algn="just">
              <a:lnSpc>
                <a:spcPts val="2000"/>
              </a:lnSpc>
              <a:buFont typeface="Arial"/>
              <a:buChar char="•"/>
            </a:pPr>
            <a:r>
              <a:rPr lang="en-US" sz="142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42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Seamless Input</a:t>
            </a:r>
            <a:r>
              <a:rPr lang="en-US" sz="142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→ Enter Location &amp; Roof Size / Upload Rooftop Images</a:t>
            </a:r>
          </a:p>
          <a:p>
            <a:pPr marL="308574" lvl="1" indent="-154287" algn="just">
              <a:lnSpc>
                <a:spcPts val="2000"/>
              </a:lnSpc>
              <a:buFont typeface="Arial"/>
              <a:buChar char="•"/>
            </a:pPr>
            <a:r>
              <a:rPr lang="en-US" sz="142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42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AI-Powered Analysis</a:t>
            </a:r>
            <a:r>
              <a:rPr lang="en-US" sz="142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→ Computer Vision detects roof dimensions automatically</a:t>
            </a:r>
          </a:p>
          <a:p>
            <a:pPr algn="just">
              <a:lnSpc>
                <a:spcPts val="2000"/>
              </a:lnSpc>
            </a:pPr>
            <a:endParaRPr lang="en-US" sz="142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2140"/>
              </a:lnSpc>
            </a:pPr>
            <a:r>
              <a:rPr lang="en-US" sz="152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👥 </a:t>
            </a:r>
            <a:r>
              <a:rPr lang="en-US" sz="152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Dual-Purpose Design</a:t>
            </a:r>
          </a:p>
          <a:p>
            <a:pPr marL="308574" lvl="1" indent="-154287" algn="just">
              <a:lnSpc>
                <a:spcPts val="2000"/>
              </a:lnSpc>
              <a:buFont typeface="Arial"/>
              <a:buChar char="•"/>
            </a:pPr>
            <a:r>
              <a:rPr lang="en-US" sz="142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 Users</a:t>
            </a:r>
            <a:r>
              <a:rPr lang="en-US" sz="142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→ Instant feasibility report, storage capacity, system sizing, clear action steps</a:t>
            </a:r>
          </a:p>
          <a:p>
            <a:pPr marL="308574" lvl="1" indent="-154287" algn="just">
              <a:lnSpc>
                <a:spcPts val="2000"/>
              </a:lnSpc>
              <a:buFont typeface="Arial"/>
              <a:buChar char="•"/>
            </a:pPr>
            <a:r>
              <a:rPr lang="en-US" sz="142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 Planners/Admins</a:t>
            </a:r>
            <a:r>
              <a:rPr lang="en-US" sz="142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→ Area-wise water potential mapping, adoption insights, planning support</a:t>
            </a:r>
          </a:p>
          <a:p>
            <a:pPr algn="just">
              <a:lnSpc>
                <a:spcPts val="2140"/>
              </a:lnSpc>
            </a:pPr>
            <a:r>
              <a:rPr lang="en-US" sz="152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just">
              <a:lnSpc>
                <a:spcPts val="2140"/>
              </a:lnSpc>
            </a:pPr>
            <a:r>
              <a:rPr lang="en-US" sz="152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✨</a:t>
            </a:r>
            <a:r>
              <a:rPr lang="en-US" sz="152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What Makes It Unique</a:t>
            </a:r>
          </a:p>
          <a:p>
            <a:pPr algn="just">
              <a:lnSpc>
                <a:spcPts val="2000"/>
              </a:lnSpc>
            </a:pPr>
            <a:r>
              <a:rPr lang="en-US" sz="142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✔ Converts complex technical guidelines into simple, actionable insights</a:t>
            </a:r>
          </a:p>
          <a:p>
            <a:pPr algn="just">
              <a:lnSpc>
                <a:spcPts val="2000"/>
              </a:lnSpc>
            </a:pPr>
            <a:r>
              <a:rPr lang="en-US" sz="142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✔ Location-specific recommendations with high accuracy</a:t>
            </a:r>
          </a:p>
          <a:p>
            <a:pPr algn="just">
              <a:lnSpc>
                <a:spcPts val="2000"/>
              </a:lnSpc>
            </a:pPr>
            <a:r>
              <a:rPr lang="en-US" sz="142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✔ Scalable, user-friendly UI/UX with regional language support</a:t>
            </a:r>
          </a:p>
          <a:p>
            <a:pPr algn="l">
              <a:lnSpc>
                <a:spcPts val="2000"/>
              </a:lnSpc>
            </a:pPr>
            <a:endParaRPr lang="en-US" sz="142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2000"/>
              </a:lnSpc>
            </a:pPr>
            <a:endParaRPr lang="en-US" sz="142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CFCF9">
                <a:alpha val="100000"/>
              </a:srgbClr>
            </a:gs>
            <a:gs pos="74000">
              <a:srgbClr val="E4E1C6">
                <a:alpha val="100000"/>
              </a:srgbClr>
            </a:gs>
            <a:gs pos="83000">
              <a:srgbClr val="E4E1C6">
                <a:alpha val="100000"/>
              </a:srgbClr>
            </a:gs>
            <a:gs pos="100000">
              <a:srgbClr val="EDEBD9">
                <a:alpha val="100000"/>
              </a:srgb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827520"/>
            <a:ext cx="9753600" cy="487680"/>
            <a:chOff x="0" y="0"/>
            <a:chExt cx="13004800" cy="6502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6756606"/>
            <a:ext cx="9753600" cy="70399"/>
            <a:chOff x="0" y="0"/>
            <a:chExt cx="13004800" cy="938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04800" cy="93853"/>
            </a:xfrm>
            <a:custGeom>
              <a:avLst/>
              <a:gdLst/>
              <a:ahLst/>
              <a:cxnLst/>
              <a:rect l="l" t="t" r="r" b="b"/>
              <a:pathLst>
                <a:path w="13004800" h="93853">
                  <a:moveTo>
                    <a:pt x="0" y="0"/>
                  </a:moveTo>
                  <a:lnTo>
                    <a:pt x="13004800" y="0"/>
                  </a:lnTo>
                  <a:lnTo>
                    <a:pt x="13004800" y="93853"/>
                  </a:lnTo>
                  <a:lnTo>
                    <a:pt x="0" y="93853"/>
                  </a:lnTo>
                  <a:close/>
                </a:path>
              </a:pathLst>
            </a:custGeom>
            <a:solidFill>
              <a:srgbClr val="E4831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1024623"/>
            <a:ext cx="9751057" cy="426787"/>
            <a:chOff x="0" y="0"/>
            <a:chExt cx="13001409" cy="5690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01371" cy="569087"/>
            </a:xfrm>
            <a:custGeom>
              <a:avLst/>
              <a:gdLst/>
              <a:ahLst/>
              <a:cxnLst/>
              <a:rect l="l" t="t" r="r" b="b"/>
              <a:pathLst>
                <a:path w="13001371" h="569087">
                  <a:moveTo>
                    <a:pt x="0" y="0"/>
                  </a:moveTo>
                  <a:lnTo>
                    <a:pt x="13001371" y="0"/>
                  </a:lnTo>
                  <a:lnTo>
                    <a:pt x="13001371" y="569087"/>
                  </a:lnTo>
                  <a:lnTo>
                    <a:pt x="0" y="569087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/>
          <p:cNvSpPr/>
          <p:nvPr/>
        </p:nvSpPr>
        <p:spPr>
          <a:xfrm>
            <a:off x="1727384" y="-81015"/>
            <a:ext cx="6195993" cy="1038963"/>
          </a:xfrm>
          <a:custGeom>
            <a:avLst/>
            <a:gdLst/>
            <a:ahLst/>
            <a:cxnLst/>
            <a:rect l="l" t="t" r="r" b="b"/>
            <a:pathLst>
              <a:path w="6195993" h="1038963">
                <a:moveTo>
                  <a:pt x="0" y="0"/>
                </a:moveTo>
                <a:lnTo>
                  <a:pt x="6195993" y="0"/>
                </a:lnTo>
                <a:lnTo>
                  <a:pt x="6195993" y="1038963"/>
                </a:lnTo>
                <a:lnTo>
                  <a:pt x="0" y="10389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65221" b="-7311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2543" y="6827520"/>
            <a:ext cx="9751057" cy="487680"/>
            <a:chOff x="0" y="0"/>
            <a:chExt cx="13001409" cy="6502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001371" cy="650240"/>
            </a:xfrm>
            <a:custGeom>
              <a:avLst/>
              <a:gdLst/>
              <a:ahLst/>
              <a:cxnLst/>
              <a:rect l="l" t="t" r="r" b="b"/>
              <a:pathLst>
                <a:path w="13001371" h="650240">
                  <a:moveTo>
                    <a:pt x="0" y="0"/>
                  </a:moveTo>
                  <a:lnTo>
                    <a:pt x="13001371" y="0"/>
                  </a:lnTo>
                  <a:lnTo>
                    <a:pt x="13001371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" y="6756606"/>
            <a:ext cx="9751057" cy="68275"/>
            <a:chOff x="0" y="0"/>
            <a:chExt cx="13001409" cy="910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001371" cy="91059"/>
            </a:xfrm>
            <a:custGeom>
              <a:avLst/>
              <a:gdLst/>
              <a:ahLst/>
              <a:cxnLst/>
              <a:rect l="l" t="t" r="r" b="b"/>
              <a:pathLst>
                <a:path w="13001371" h="91059">
                  <a:moveTo>
                    <a:pt x="0" y="0"/>
                  </a:moveTo>
                  <a:lnTo>
                    <a:pt x="13001371" y="0"/>
                  </a:lnTo>
                  <a:lnTo>
                    <a:pt x="13001371" y="91059"/>
                  </a:lnTo>
                  <a:lnTo>
                    <a:pt x="0" y="91059"/>
                  </a:lnTo>
                  <a:close/>
                </a:path>
              </a:pathLst>
            </a:custGeom>
            <a:solidFill>
              <a:srgbClr val="E4831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Freeform 13"/>
          <p:cNvSpPr/>
          <p:nvPr/>
        </p:nvSpPr>
        <p:spPr>
          <a:xfrm>
            <a:off x="163338" y="1651435"/>
            <a:ext cx="3047781" cy="2686194"/>
          </a:xfrm>
          <a:custGeom>
            <a:avLst/>
            <a:gdLst/>
            <a:ahLst/>
            <a:cxnLst/>
            <a:rect l="l" t="t" r="r" b="b"/>
            <a:pathLst>
              <a:path w="2794240" h="2686194">
                <a:moveTo>
                  <a:pt x="0" y="0"/>
                </a:moveTo>
                <a:lnTo>
                  <a:pt x="2794240" y="0"/>
                </a:lnTo>
                <a:lnTo>
                  <a:pt x="2794240" y="2686194"/>
                </a:lnTo>
                <a:lnTo>
                  <a:pt x="0" y="26861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55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3211120" y="1651435"/>
            <a:ext cx="3047781" cy="4932245"/>
          </a:xfrm>
          <a:custGeom>
            <a:avLst/>
            <a:gdLst/>
            <a:ahLst/>
            <a:cxnLst/>
            <a:rect l="l" t="t" r="r" b="b"/>
            <a:pathLst>
              <a:path w="2928403" h="4932245">
                <a:moveTo>
                  <a:pt x="0" y="0"/>
                </a:moveTo>
                <a:lnTo>
                  <a:pt x="2928403" y="0"/>
                </a:lnTo>
                <a:lnTo>
                  <a:pt x="2928403" y="4932245"/>
                </a:lnTo>
                <a:lnTo>
                  <a:pt x="0" y="49322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144" r="-2780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6258901" y="1651435"/>
            <a:ext cx="3194789" cy="2686194"/>
          </a:xfrm>
          <a:custGeom>
            <a:avLst/>
            <a:gdLst/>
            <a:ahLst/>
            <a:cxnLst/>
            <a:rect l="l" t="t" r="r" b="b"/>
            <a:pathLst>
              <a:path w="3060627" h="2686194">
                <a:moveTo>
                  <a:pt x="0" y="0"/>
                </a:moveTo>
                <a:lnTo>
                  <a:pt x="3060628" y="0"/>
                </a:lnTo>
                <a:lnTo>
                  <a:pt x="3060628" y="2686194"/>
                </a:lnTo>
                <a:lnTo>
                  <a:pt x="0" y="26861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644" t="-1856" b="-185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6271747" y="4337629"/>
            <a:ext cx="3181944" cy="2246051"/>
          </a:xfrm>
          <a:custGeom>
            <a:avLst/>
            <a:gdLst/>
            <a:ahLst/>
            <a:cxnLst/>
            <a:rect l="l" t="t" r="r" b="b"/>
            <a:pathLst>
              <a:path w="3060627" h="2142558">
                <a:moveTo>
                  <a:pt x="0" y="0"/>
                </a:moveTo>
                <a:lnTo>
                  <a:pt x="3060628" y="0"/>
                </a:lnTo>
                <a:lnTo>
                  <a:pt x="3060628" y="2142558"/>
                </a:lnTo>
                <a:lnTo>
                  <a:pt x="0" y="21425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2040" t="-37983" r="-30320" b="-3832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163338" y="4337630"/>
            <a:ext cx="3060627" cy="2349544"/>
          </a:xfrm>
          <a:custGeom>
            <a:avLst/>
            <a:gdLst/>
            <a:ahLst/>
            <a:cxnLst/>
            <a:rect l="l" t="t" r="r" b="b"/>
            <a:pathLst>
              <a:path w="2794240" h="2246051">
                <a:moveTo>
                  <a:pt x="0" y="0"/>
                </a:moveTo>
                <a:lnTo>
                  <a:pt x="2794240" y="0"/>
                </a:lnTo>
                <a:lnTo>
                  <a:pt x="2794240" y="2246051"/>
                </a:lnTo>
                <a:lnTo>
                  <a:pt x="0" y="22460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4636" r="-7333" b="-463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TextBox 18"/>
          <p:cNvSpPr txBox="1"/>
          <p:nvPr/>
        </p:nvSpPr>
        <p:spPr>
          <a:xfrm>
            <a:off x="163339" y="939694"/>
            <a:ext cx="3908813" cy="444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  <a:spcBef>
                <a:spcPct val="0"/>
              </a:spcBef>
            </a:pPr>
            <a:r>
              <a:rPr lang="en-US" sz="192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Prototype Demo Screenshots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CFCF9">
                <a:alpha val="100000"/>
              </a:srgbClr>
            </a:gs>
            <a:gs pos="74000">
              <a:srgbClr val="E4E1C6">
                <a:alpha val="100000"/>
              </a:srgbClr>
            </a:gs>
            <a:gs pos="83000">
              <a:srgbClr val="E4E1C6">
                <a:alpha val="100000"/>
              </a:srgbClr>
            </a:gs>
            <a:gs pos="100000">
              <a:srgbClr val="EDEBD9">
                <a:alpha val="100000"/>
              </a:srgb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827520"/>
            <a:ext cx="9753600" cy="487680"/>
            <a:chOff x="0" y="0"/>
            <a:chExt cx="13004800" cy="6502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6756606"/>
            <a:ext cx="9753600" cy="70399"/>
            <a:chOff x="0" y="0"/>
            <a:chExt cx="13004800" cy="938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04800" cy="93853"/>
            </a:xfrm>
            <a:custGeom>
              <a:avLst/>
              <a:gdLst/>
              <a:ahLst/>
              <a:cxnLst/>
              <a:rect l="l" t="t" r="r" b="b"/>
              <a:pathLst>
                <a:path w="13004800" h="93853">
                  <a:moveTo>
                    <a:pt x="0" y="0"/>
                  </a:moveTo>
                  <a:lnTo>
                    <a:pt x="13004800" y="0"/>
                  </a:lnTo>
                  <a:lnTo>
                    <a:pt x="13004800" y="93853"/>
                  </a:lnTo>
                  <a:lnTo>
                    <a:pt x="0" y="93853"/>
                  </a:lnTo>
                  <a:close/>
                </a:path>
              </a:pathLst>
            </a:custGeom>
            <a:solidFill>
              <a:srgbClr val="E4831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1024623"/>
            <a:ext cx="9751057" cy="426787"/>
            <a:chOff x="0" y="0"/>
            <a:chExt cx="13001409" cy="5690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01371" cy="569087"/>
            </a:xfrm>
            <a:custGeom>
              <a:avLst/>
              <a:gdLst/>
              <a:ahLst/>
              <a:cxnLst/>
              <a:rect l="l" t="t" r="r" b="b"/>
              <a:pathLst>
                <a:path w="13001371" h="569087">
                  <a:moveTo>
                    <a:pt x="0" y="0"/>
                  </a:moveTo>
                  <a:lnTo>
                    <a:pt x="13001371" y="0"/>
                  </a:lnTo>
                  <a:lnTo>
                    <a:pt x="13001371" y="569087"/>
                  </a:lnTo>
                  <a:lnTo>
                    <a:pt x="0" y="569087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/>
          <p:cNvSpPr/>
          <p:nvPr/>
        </p:nvSpPr>
        <p:spPr>
          <a:xfrm>
            <a:off x="1704423" y="-13545"/>
            <a:ext cx="6195993" cy="842353"/>
          </a:xfrm>
          <a:custGeom>
            <a:avLst/>
            <a:gdLst/>
            <a:ahLst/>
            <a:cxnLst/>
            <a:rect l="l" t="t" r="r" b="b"/>
            <a:pathLst>
              <a:path w="6195993" h="842353">
                <a:moveTo>
                  <a:pt x="0" y="0"/>
                </a:moveTo>
                <a:lnTo>
                  <a:pt x="6195993" y="0"/>
                </a:lnTo>
                <a:lnTo>
                  <a:pt x="6195993" y="842353"/>
                </a:lnTo>
                <a:lnTo>
                  <a:pt x="0" y="8423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65221" b="-32358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2543" y="6827520"/>
            <a:ext cx="9751057" cy="487680"/>
            <a:chOff x="0" y="0"/>
            <a:chExt cx="13001409" cy="6502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001371" cy="650240"/>
            </a:xfrm>
            <a:custGeom>
              <a:avLst/>
              <a:gdLst/>
              <a:ahLst/>
              <a:cxnLst/>
              <a:rect l="l" t="t" r="r" b="b"/>
              <a:pathLst>
                <a:path w="13001371" h="650240">
                  <a:moveTo>
                    <a:pt x="0" y="0"/>
                  </a:moveTo>
                  <a:lnTo>
                    <a:pt x="13001371" y="0"/>
                  </a:lnTo>
                  <a:lnTo>
                    <a:pt x="13001371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" y="6756606"/>
            <a:ext cx="9751057" cy="68275"/>
            <a:chOff x="0" y="0"/>
            <a:chExt cx="13001409" cy="910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001371" cy="91059"/>
            </a:xfrm>
            <a:custGeom>
              <a:avLst/>
              <a:gdLst/>
              <a:ahLst/>
              <a:cxnLst/>
              <a:rect l="l" t="t" r="r" b="b"/>
              <a:pathLst>
                <a:path w="13001371" h="91059">
                  <a:moveTo>
                    <a:pt x="0" y="0"/>
                  </a:moveTo>
                  <a:lnTo>
                    <a:pt x="13001371" y="0"/>
                  </a:lnTo>
                  <a:lnTo>
                    <a:pt x="13001371" y="91059"/>
                  </a:lnTo>
                  <a:lnTo>
                    <a:pt x="0" y="91059"/>
                  </a:lnTo>
                  <a:close/>
                </a:path>
              </a:pathLst>
            </a:custGeom>
            <a:solidFill>
              <a:srgbClr val="E4831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Freeform 13"/>
          <p:cNvSpPr/>
          <p:nvPr/>
        </p:nvSpPr>
        <p:spPr>
          <a:xfrm>
            <a:off x="1704423" y="-104804"/>
            <a:ext cx="5850188" cy="1038415"/>
          </a:xfrm>
          <a:custGeom>
            <a:avLst/>
            <a:gdLst/>
            <a:ahLst/>
            <a:cxnLst/>
            <a:rect l="l" t="t" r="r" b="b"/>
            <a:pathLst>
              <a:path w="5850188" h="1038415">
                <a:moveTo>
                  <a:pt x="0" y="0"/>
                </a:moveTo>
                <a:lnTo>
                  <a:pt x="5850188" y="0"/>
                </a:lnTo>
                <a:lnTo>
                  <a:pt x="5850188" y="1038416"/>
                </a:lnTo>
                <a:lnTo>
                  <a:pt x="0" y="1038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4149" b="-685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230127" y="939694"/>
            <a:ext cx="3226982" cy="444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  <a:spcBef>
                <a:spcPct val="0"/>
              </a:spcBef>
            </a:pPr>
            <a:r>
              <a:rPr lang="en-US" sz="192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Existing Solution</a:t>
            </a:r>
          </a:p>
        </p:txBody>
      </p:sp>
      <p:sp>
        <p:nvSpPr>
          <p:cNvPr id="15" name="Freeform 15"/>
          <p:cNvSpPr/>
          <p:nvPr/>
        </p:nvSpPr>
        <p:spPr>
          <a:xfrm>
            <a:off x="5691228" y="1651435"/>
            <a:ext cx="3931028" cy="4409523"/>
          </a:xfrm>
          <a:custGeom>
            <a:avLst/>
            <a:gdLst/>
            <a:ahLst/>
            <a:cxnLst/>
            <a:rect l="l" t="t" r="r" b="b"/>
            <a:pathLst>
              <a:path w="3931028" h="4409523">
                <a:moveTo>
                  <a:pt x="0" y="0"/>
                </a:moveTo>
                <a:lnTo>
                  <a:pt x="3931028" y="0"/>
                </a:lnTo>
                <a:lnTo>
                  <a:pt x="3931028" y="4409523"/>
                </a:lnTo>
                <a:lnTo>
                  <a:pt x="0" y="44095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372" b="-337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230127" y="1473507"/>
            <a:ext cx="5333809" cy="5568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74"/>
              </a:lnSpc>
            </a:pPr>
            <a:endParaRPr dirty="0"/>
          </a:p>
          <a:p>
            <a:pPr algn="just">
              <a:lnSpc>
                <a:spcPts val="2074"/>
              </a:lnSpc>
            </a:pPr>
            <a:r>
              <a:rPr lang="en-US" sz="148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481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CGWB Manual &amp; Calculator</a:t>
            </a:r>
            <a:r>
              <a:rPr lang="en-US" sz="148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→ Rule-based, manual input driven, limited automation.</a:t>
            </a:r>
          </a:p>
          <a:p>
            <a:pPr algn="just">
              <a:lnSpc>
                <a:spcPts val="2074"/>
              </a:lnSpc>
            </a:pPr>
            <a:r>
              <a:rPr lang="en-US" sz="148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481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Jal </a:t>
            </a:r>
            <a:r>
              <a:rPr lang="en-US" sz="1481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Sanchalan</a:t>
            </a:r>
            <a:r>
              <a:rPr lang="en-US" sz="1481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Portal</a:t>
            </a:r>
            <a:r>
              <a:rPr lang="en-US" sz="148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→ Provides general guidance but lacks personalized, GIS-based evaluation.</a:t>
            </a:r>
          </a:p>
          <a:p>
            <a:pPr algn="just">
              <a:lnSpc>
                <a:spcPts val="2074"/>
              </a:lnSpc>
            </a:pPr>
            <a:endParaRPr lang="en-US" sz="1481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2074"/>
              </a:lnSpc>
            </a:pPr>
            <a:r>
              <a:rPr lang="en-US" sz="148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📊 </a:t>
            </a:r>
            <a:r>
              <a:rPr lang="en-US" sz="1481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Analysis of Existing Solutions</a:t>
            </a:r>
          </a:p>
          <a:p>
            <a:pPr algn="just">
              <a:lnSpc>
                <a:spcPts val="1772"/>
              </a:lnSpc>
            </a:pPr>
            <a:r>
              <a:rPr lang="en-US" sz="126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Most current rooftop rainwater harvesting (RTRWH) assessment tools rely heavily on manual inputs, which reduces accuracy, efficiency, and user adoption.</a:t>
            </a:r>
          </a:p>
          <a:p>
            <a:pPr algn="just">
              <a:lnSpc>
                <a:spcPts val="1772"/>
              </a:lnSpc>
            </a:pPr>
            <a:endParaRPr lang="en-US" sz="1265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2074"/>
              </a:lnSpc>
            </a:pPr>
            <a:r>
              <a:rPr lang="en-US" sz="148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⚠️ </a:t>
            </a:r>
            <a:r>
              <a:rPr lang="en-US" sz="1481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Limitations Identified</a:t>
            </a:r>
          </a:p>
          <a:p>
            <a:pPr algn="just">
              <a:lnSpc>
                <a:spcPts val="1939"/>
              </a:lnSpc>
            </a:pPr>
            <a:r>
              <a:rPr lang="en-US" sz="138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📐</a:t>
            </a:r>
            <a:r>
              <a:rPr lang="en-US" sz="1385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Manual Measurement Dependency</a:t>
            </a:r>
            <a:r>
              <a:rPr lang="en-US" sz="138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→ Users must physically measure roof dimensions and enter values, increasing chances of human error.</a:t>
            </a:r>
          </a:p>
          <a:p>
            <a:pPr algn="just">
              <a:lnSpc>
                <a:spcPts val="2002"/>
              </a:lnSpc>
            </a:pPr>
            <a:r>
              <a:rPr lang="en-US" sz="143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🌦️</a:t>
            </a:r>
            <a:r>
              <a:rPr lang="en-US" sz="143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Generic Feasibility Estimates </a:t>
            </a:r>
            <a:r>
              <a:rPr lang="en-US" sz="143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→ Many tools ignore location-specific rainfall data and GIS-based mapping, resulting in unreliable or oversimplified results.</a:t>
            </a:r>
          </a:p>
          <a:p>
            <a:pPr algn="just">
              <a:lnSpc>
                <a:spcPts val="2002"/>
              </a:lnSpc>
            </a:pPr>
            <a:r>
              <a:rPr lang="en-US" sz="143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📄 </a:t>
            </a:r>
            <a:r>
              <a:rPr lang="en-US" sz="143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Static &amp; Complex Reports</a:t>
            </a:r>
            <a:r>
              <a:rPr lang="en-US" sz="143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→ Outputs are text-heavy, technical, and difficult for households to understand or implement.</a:t>
            </a:r>
          </a:p>
          <a:p>
            <a:pPr algn="just">
              <a:lnSpc>
                <a:spcPts val="1772"/>
              </a:lnSpc>
            </a:pPr>
            <a:endParaRPr lang="en-US" sz="143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CFCF9">
                <a:alpha val="100000"/>
              </a:srgbClr>
            </a:gs>
            <a:gs pos="74000">
              <a:srgbClr val="E4E1C6">
                <a:alpha val="100000"/>
              </a:srgbClr>
            </a:gs>
            <a:gs pos="83000">
              <a:srgbClr val="E4E1C6">
                <a:alpha val="100000"/>
              </a:srgbClr>
            </a:gs>
            <a:gs pos="100000">
              <a:srgbClr val="EDEBD9">
                <a:alpha val="100000"/>
              </a:srgb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827520"/>
            <a:ext cx="9753600" cy="487680"/>
            <a:chOff x="0" y="0"/>
            <a:chExt cx="13004800" cy="6502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6756606"/>
            <a:ext cx="9753600" cy="70399"/>
            <a:chOff x="0" y="0"/>
            <a:chExt cx="13004800" cy="938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04800" cy="93853"/>
            </a:xfrm>
            <a:custGeom>
              <a:avLst/>
              <a:gdLst/>
              <a:ahLst/>
              <a:cxnLst/>
              <a:rect l="l" t="t" r="r" b="b"/>
              <a:pathLst>
                <a:path w="13004800" h="93853">
                  <a:moveTo>
                    <a:pt x="0" y="0"/>
                  </a:moveTo>
                  <a:lnTo>
                    <a:pt x="13004800" y="0"/>
                  </a:lnTo>
                  <a:lnTo>
                    <a:pt x="13004800" y="93853"/>
                  </a:lnTo>
                  <a:lnTo>
                    <a:pt x="0" y="93853"/>
                  </a:lnTo>
                  <a:close/>
                </a:path>
              </a:pathLst>
            </a:custGeom>
            <a:solidFill>
              <a:srgbClr val="E4831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1024623"/>
            <a:ext cx="9751057" cy="426787"/>
            <a:chOff x="0" y="0"/>
            <a:chExt cx="13001409" cy="5690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01371" cy="569087"/>
            </a:xfrm>
            <a:custGeom>
              <a:avLst/>
              <a:gdLst/>
              <a:ahLst/>
              <a:cxnLst/>
              <a:rect l="l" t="t" r="r" b="b"/>
              <a:pathLst>
                <a:path w="13001371" h="569087">
                  <a:moveTo>
                    <a:pt x="0" y="0"/>
                  </a:moveTo>
                  <a:lnTo>
                    <a:pt x="13001371" y="0"/>
                  </a:lnTo>
                  <a:lnTo>
                    <a:pt x="13001371" y="569087"/>
                  </a:lnTo>
                  <a:lnTo>
                    <a:pt x="0" y="569087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/>
          <p:cNvSpPr/>
          <p:nvPr/>
        </p:nvSpPr>
        <p:spPr>
          <a:xfrm>
            <a:off x="1526483" y="85913"/>
            <a:ext cx="6195993" cy="910351"/>
          </a:xfrm>
          <a:custGeom>
            <a:avLst/>
            <a:gdLst/>
            <a:ahLst/>
            <a:cxnLst/>
            <a:rect l="l" t="t" r="r" b="b"/>
            <a:pathLst>
              <a:path w="6195993" h="842353">
                <a:moveTo>
                  <a:pt x="0" y="0"/>
                </a:moveTo>
                <a:lnTo>
                  <a:pt x="6195993" y="0"/>
                </a:lnTo>
                <a:lnTo>
                  <a:pt x="6195993" y="842353"/>
                </a:lnTo>
                <a:lnTo>
                  <a:pt x="0" y="8423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65221" b="-32358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2543" y="6827520"/>
            <a:ext cx="9751057" cy="487680"/>
            <a:chOff x="0" y="0"/>
            <a:chExt cx="13001409" cy="6502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001371" cy="650240"/>
            </a:xfrm>
            <a:custGeom>
              <a:avLst/>
              <a:gdLst/>
              <a:ahLst/>
              <a:cxnLst/>
              <a:rect l="l" t="t" r="r" b="b"/>
              <a:pathLst>
                <a:path w="13001371" h="650240">
                  <a:moveTo>
                    <a:pt x="0" y="0"/>
                  </a:moveTo>
                  <a:lnTo>
                    <a:pt x="13001371" y="0"/>
                  </a:lnTo>
                  <a:lnTo>
                    <a:pt x="13001371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" y="6756606"/>
            <a:ext cx="9751057" cy="68275"/>
            <a:chOff x="0" y="0"/>
            <a:chExt cx="13001409" cy="910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001371" cy="91059"/>
            </a:xfrm>
            <a:custGeom>
              <a:avLst/>
              <a:gdLst/>
              <a:ahLst/>
              <a:cxnLst/>
              <a:rect l="l" t="t" r="r" b="b"/>
              <a:pathLst>
                <a:path w="13001371" h="91059">
                  <a:moveTo>
                    <a:pt x="0" y="0"/>
                  </a:moveTo>
                  <a:lnTo>
                    <a:pt x="13001371" y="0"/>
                  </a:lnTo>
                  <a:lnTo>
                    <a:pt x="13001371" y="91059"/>
                  </a:lnTo>
                  <a:lnTo>
                    <a:pt x="0" y="91059"/>
                  </a:lnTo>
                  <a:close/>
                </a:path>
              </a:pathLst>
            </a:custGeom>
            <a:solidFill>
              <a:srgbClr val="E4831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Freeform 14"/>
          <p:cNvSpPr/>
          <p:nvPr/>
        </p:nvSpPr>
        <p:spPr>
          <a:xfrm>
            <a:off x="5715000" y="1494326"/>
            <a:ext cx="4014952" cy="5189795"/>
          </a:xfrm>
          <a:custGeom>
            <a:avLst/>
            <a:gdLst/>
            <a:ahLst/>
            <a:cxnLst/>
            <a:rect l="l" t="t" r="r" b="b"/>
            <a:pathLst>
              <a:path w="3412980" h="4520504">
                <a:moveTo>
                  <a:pt x="0" y="0"/>
                </a:moveTo>
                <a:lnTo>
                  <a:pt x="3412981" y="0"/>
                </a:lnTo>
                <a:lnTo>
                  <a:pt x="3412981" y="4520503"/>
                </a:lnTo>
                <a:lnTo>
                  <a:pt x="0" y="45205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23648" y="1494327"/>
            <a:ext cx="5688790" cy="5260184"/>
          </a:xfrm>
          <a:custGeom>
            <a:avLst/>
            <a:gdLst/>
            <a:ahLst/>
            <a:cxnLst/>
            <a:rect l="l" t="t" r="r" b="b"/>
            <a:pathLst>
              <a:path w="3522528" h="4473051">
                <a:moveTo>
                  <a:pt x="0" y="0"/>
                </a:moveTo>
                <a:lnTo>
                  <a:pt x="3522528" y="0"/>
                </a:lnTo>
                <a:lnTo>
                  <a:pt x="3522528" y="4473051"/>
                </a:lnTo>
                <a:lnTo>
                  <a:pt x="0" y="44730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692" t="-7381" r="-7322" b="-498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6" name="TextBox 16"/>
          <p:cNvSpPr txBox="1"/>
          <p:nvPr/>
        </p:nvSpPr>
        <p:spPr>
          <a:xfrm>
            <a:off x="230127" y="939694"/>
            <a:ext cx="3226982" cy="444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  <a:spcBef>
                <a:spcPct val="0"/>
              </a:spcBef>
            </a:pPr>
            <a:r>
              <a:rPr lang="en-US" sz="192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CFCF9">
                <a:alpha val="100000"/>
              </a:srgbClr>
            </a:gs>
            <a:gs pos="74000">
              <a:srgbClr val="E4E1C6">
                <a:alpha val="100000"/>
              </a:srgbClr>
            </a:gs>
            <a:gs pos="83000">
              <a:srgbClr val="E4E1C6">
                <a:alpha val="100000"/>
              </a:srgbClr>
            </a:gs>
            <a:gs pos="100000">
              <a:srgbClr val="EDEBD9">
                <a:alpha val="100000"/>
              </a:srgb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827520"/>
            <a:ext cx="9753600" cy="487680"/>
            <a:chOff x="0" y="0"/>
            <a:chExt cx="13004800" cy="6502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6756606"/>
            <a:ext cx="9753600" cy="70399"/>
            <a:chOff x="0" y="0"/>
            <a:chExt cx="13004800" cy="938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04800" cy="93853"/>
            </a:xfrm>
            <a:custGeom>
              <a:avLst/>
              <a:gdLst/>
              <a:ahLst/>
              <a:cxnLst/>
              <a:rect l="l" t="t" r="r" b="b"/>
              <a:pathLst>
                <a:path w="13004800" h="93853">
                  <a:moveTo>
                    <a:pt x="0" y="0"/>
                  </a:moveTo>
                  <a:lnTo>
                    <a:pt x="13004800" y="0"/>
                  </a:lnTo>
                  <a:lnTo>
                    <a:pt x="13004800" y="93853"/>
                  </a:lnTo>
                  <a:lnTo>
                    <a:pt x="0" y="93853"/>
                  </a:lnTo>
                  <a:close/>
                </a:path>
              </a:pathLst>
            </a:custGeom>
            <a:solidFill>
              <a:srgbClr val="E4831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1024623"/>
            <a:ext cx="9751057" cy="426787"/>
            <a:chOff x="0" y="0"/>
            <a:chExt cx="13001409" cy="5690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01371" cy="569087"/>
            </a:xfrm>
            <a:custGeom>
              <a:avLst/>
              <a:gdLst/>
              <a:ahLst/>
              <a:cxnLst/>
              <a:rect l="l" t="t" r="r" b="b"/>
              <a:pathLst>
                <a:path w="13001371" h="569087">
                  <a:moveTo>
                    <a:pt x="0" y="0"/>
                  </a:moveTo>
                  <a:lnTo>
                    <a:pt x="13001371" y="0"/>
                  </a:lnTo>
                  <a:lnTo>
                    <a:pt x="13001371" y="569087"/>
                  </a:lnTo>
                  <a:lnTo>
                    <a:pt x="0" y="569087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/>
          <p:cNvSpPr/>
          <p:nvPr/>
        </p:nvSpPr>
        <p:spPr>
          <a:xfrm>
            <a:off x="1669866" y="0"/>
            <a:ext cx="6195993" cy="903500"/>
          </a:xfrm>
          <a:custGeom>
            <a:avLst/>
            <a:gdLst/>
            <a:ahLst/>
            <a:cxnLst/>
            <a:rect l="l" t="t" r="r" b="b"/>
            <a:pathLst>
              <a:path w="6195993" h="903500">
                <a:moveTo>
                  <a:pt x="0" y="0"/>
                </a:moveTo>
                <a:lnTo>
                  <a:pt x="6195994" y="0"/>
                </a:lnTo>
                <a:lnTo>
                  <a:pt x="6195994" y="903500"/>
                </a:lnTo>
                <a:lnTo>
                  <a:pt x="0" y="90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406" r="-65221" b="-9995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2543" y="6827520"/>
            <a:ext cx="9751057" cy="487680"/>
            <a:chOff x="0" y="0"/>
            <a:chExt cx="13001409" cy="6502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001371" cy="650240"/>
            </a:xfrm>
            <a:custGeom>
              <a:avLst/>
              <a:gdLst/>
              <a:ahLst/>
              <a:cxnLst/>
              <a:rect l="l" t="t" r="r" b="b"/>
              <a:pathLst>
                <a:path w="13001371" h="650240">
                  <a:moveTo>
                    <a:pt x="0" y="0"/>
                  </a:moveTo>
                  <a:lnTo>
                    <a:pt x="13001371" y="0"/>
                  </a:lnTo>
                  <a:lnTo>
                    <a:pt x="13001371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" y="6756606"/>
            <a:ext cx="9751057" cy="68275"/>
            <a:chOff x="0" y="0"/>
            <a:chExt cx="13001409" cy="910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001371" cy="91059"/>
            </a:xfrm>
            <a:custGeom>
              <a:avLst/>
              <a:gdLst/>
              <a:ahLst/>
              <a:cxnLst/>
              <a:rect l="l" t="t" r="r" b="b"/>
              <a:pathLst>
                <a:path w="13001371" h="91059">
                  <a:moveTo>
                    <a:pt x="0" y="0"/>
                  </a:moveTo>
                  <a:lnTo>
                    <a:pt x="13001371" y="0"/>
                  </a:lnTo>
                  <a:lnTo>
                    <a:pt x="13001371" y="91059"/>
                  </a:lnTo>
                  <a:lnTo>
                    <a:pt x="0" y="91059"/>
                  </a:lnTo>
                  <a:close/>
                </a:path>
              </a:pathLst>
            </a:custGeom>
            <a:solidFill>
              <a:srgbClr val="E4831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Freeform 13"/>
          <p:cNvSpPr/>
          <p:nvPr/>
        </p:nvSpPr>
        <p:spPr>
          <a:xfrm>
            <a:off x="0" y="1521828"/>
            <a:ext cx="5313206" cy="4955171"/>
          </a:xfrm>
          <a:custGeom>
            <a:avLst/>
            <a:gdLst/>
            <a:ahLst/>
            <a:cxnLst/>
            <a:rect l="l" t="t" r="r" b="b"/>
            <a:pathLst>
              <a:path w="5008062" h="2536768">
                <a:moveTo>
                  <a:pt x="0" y="0"/>
                </a:moveTo>
                <a:lnTo>
                  <a:pt x="5008062" y="0"/>
                </a:lnTo>
                <a:lnTo>
                  <a:pt x="5008062" y="2536768"/>
                </a:lnTo>
                <a:lnTo>
                  <a:pt x="0" y="25367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9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5313206" y="1521828"/>
            <a:ext cx="4437822" cy="4955171"/>
          </a:xfrm>
          <a:custGeom>
            <a:avLst/>
            <a:gdLst/>
            <a:ahLst/>
            <a:cxnLst/>
            <a:rect l="l" t="t" r="r" b="b"/>
            <a:pathLst>
              <a:path w="4214646" h="2914563">
                <a:moveTo>
                  <a:pt x="0" y="0"/>
                </a:moveTo>
                <a:lnTo>
                  <a:pt x="4214646" y="0"/>
                </a:lnTo>
                <a:lnTo>
                  <a:pt x="4214646" y="2914564"/>
                </a:lnTo>
                <a:lnTo>
                  <a:pt x="0" y="29145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CFCF9">
                <a:alpha val="100000"/>
              </a:srgbClr>
            </a:gs>
            <a:gs pos="74000">
              <a:srgbClr val="E4E1C6">
                <a:alpha val="100000"/>
              </a:srgbClr>
            </a:gs>
            <a:gs pos="83000">
              <a:srgbClr val="E4E1C6">
                <a:alpha val="100000"/>
              </a:srgbClr>
            </a:gs>
            <a:gs pos="100000">
              <a:srgbClr val="EDEBD9">
                <a:alpha val="100000"/>
              </a:srgb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827520"/>
            <a:ext cx="9753600" cy="487680"/>
            <a:chOff x="0" y="0"/>
            <a:chExt cx="13004800" cy="6502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6756606"/>
            <a:ext cx="9753600" cy="70399"/>
            <a:chOff x="0" y="0"/>
            <a:chExt cx="13004800" cy="938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04800" cy="93853"/>
            </a:xfrm>
            <a:custGeom>
              <a:avLst/>
              <a:gdLst/>
              <a:ahLst/>
              <a:cxnLst/>
              <a:rect l="l" t="t" r="r" b="b"/>
              <a:pathLst>
                <a:path w="13004800" h="93853">
                  <a:moveTo>
                    <a:pt x="0" y="0"/>
                  </a:moveTo>
                  <a:lnTo>
                    <a:pt x="13004800" y="0"/>
                  </a:lnTo>
                  <a:lnTo>
                    <a:pt x="13004800" y="93853"/>
                  </a:lnTo>
                  <a:lnTo>
                    <a:pt x="0" y="93853"/>
                  </a:lnTo>
                  <a:close/>
                </a:path>
              </a:pathLst>
            </a:custGeom>
            <a:solidFill>
              <a:srgbClr val="E4831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1024623"/>
            <a:ext cx="9751057" cy="426787"/>
            <a:chOff x="0" y="0"/>
            <a:chExt cx="13001409" cy="5690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01371" cy="569087"/>
            </a:xfrm>
            <a:custGeom>
              <a:avLst/>
              <a:gdLst/>
              <a:ahLst/>
              <a:cxnLst/>
              <a:rect l="l" t="t" r="r" b="b"/>
              <a:pathLst>
                <a:path w="13001371" h="569087">
                  <a:moveTo>
                    <a:pt x="0" y="0"/>
                  </a:moveTo>
                  <a:lnTo>
                    <a:pt x="13001371" y="0"/>
                  </a:lnTo>
                  <a:lnTo>
                    <a:pt x="13001371" y="569087"/>
                  </a:lnTo>
                  <a:lnTo>
                    <a:pt x="0" y="569087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/>
          <p:cNvSpPr/>
          <p:nvPr/>
        </p:nvSpPr>
        <p:spPr>
          <a:xfrm>
            <a:off x="1704423" y="-13545"/>
            <a:ext cx="6195993" cy="842353"/>
          </a:xfrm>
          <a:custGeom>
            <a:avLst/>
            <a:gdLst/>
            <a:ahLst/>
            <a:cxnLst/>
            <a:rect l="l" t="t" r="r" b="b"/>
            <a:pathLst>
              <a:path w="6195993" h="842353">
                <a:moveTo>
                  <a:pt x="0" y="0"/>
                </a:moveTo>
                <a:lnTo>
                  <a:pt x="6195993" y="0"/>
                </a:lnTo>
                <a:lnTo>
                  <a:pt x="6195993" y="842353"/>
                </a:lnTo>
                <a:lnTo>
                  <a:pt x="0" y="8423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65221" b="-32358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2543" y="6827520"/>
            <a:ext cx="9751057" cy="487680"/>
            <a:chOff x="0" y="0"/>
            <a:chExt cx="13001409" cy="6502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001371" cy="650240"/>
            </a:xfrm>
            <a:custGeom>
              <a:avLst/>
              <a:gdLst/>
              <a:ahLst/>
              <a:cxnLst/>
              <a:rect l="l" t="t" r="r" b="b"/>
              <a:pathLst>
                <a:path w="13001371" h="650240">
                  <a:moveTo>
                    <a:pt x="0" y="0"/>
                  </a:moveTo>
                  <a:lnTo>
                    <a:pt x="13001371" y="0"/>
                  </a:lnTo>
                  <a:lnTo>
                    <a:pt x="13001371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" y="6756606"/>
            <a:ext cx="9751057" cy="68275"/>
            <a:chOff x="0" y="0"/>
            <a:chExt cx="13001409" cy="910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001371" cy="91059"/>
            </a:xfrm>
            <a:custGeom>
              <a:avLst/>
              <a:gdLst/>
              <a:ahLst/>
              <a:cxnLst/>
              <a:rect l="l" t="t" r="r" b="b"/>
              <a:pathLst>
                <a:path w="13001371" h="91059">
                  <a:moveTo>
                    <a:pt x="0" y="0"/>
                  </a:moveTo>
                  <a:lnTo>
                    <a:pt x="13001371" y="0"/>
                  </a:lnTo>
                  <a:lnTo>
                    <a:pt x="13001371" y="91059"/>
                  </a:lnTo>
                  <a:lnTo>
                    <a:pt x="0" y="91059"/>
                  </a:lnTo>
                  <a:close/>
                </a:path>
              </a:pathLst>
            </a:custGeom>
            <a:solidFill>
              <a:srgbClr val="E4831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Freeform 13"/>
          <p:cNvSpPr/>
          <p:nvPr/>
        </p:nvSpPr>
        <p:spPr>
          <a:xfrm>
            <a:off x="1704423" y="-104804"/>
            <a:ext cx="5850188" cy="1038415"/>
          </a:xfrm>
          <a:custGeom>
            <a:avLst/>
            <a:gdLst/>
            <a:ahLst/>
            <a:cxnLst/>
            <a:rect l="l" t="t" r="r" b="b"/>
            <a:pathLst>
              <a:path w="5850188" h="1038415">
                <a:moveTo>
                  <a:pt x="0" y="0"/>
                </a:moveTo>
                <a:lnTo>
                  <a:pt x="5850188" y="0"/>
                </a:lnTo>
                <a:lnTo>
                  <a:pt x="5850188" y="1038416"/>
                </a:lnTo>
                <a:lnTo>
                  <a:pt x="0" y="1038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4149" b="-685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230127" y="939694"/>
            <a:ext cx="3226982" cy="444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  <a:spcBef>
                <a:spcPct val="0"/>
              </a:spcBef>
            </a:pPr>
            <a:r>
              <a:rPr lang="en-US" sz="192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Functional Requirements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1284" y="1850695"/>
            <a:ext cx="9632316" cy="4265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59"/>
              </a:lnSpc>
            </a:pPr>
            <a:r>
              <a:rPr lang="en-US" sz="168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⚙️ </a:t>
            </a:r>
            <a:r>
              <a:rPr lang="en-US" sz="1685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Functional Requirements (What the App Must Do)</a:t>
            </a:r>
          </a:p>
          <a:p>
            <a:pPr algn="just">
              <a:lnSpc>
                <a:spcPts val="2359"/>
              </a:lnSpc>
            </a:pPr>
            <a:endParaRPr lang="en-US" sz="1685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342342" lvl="1" indent="-171171" algn="just">
              <a:lnSpc>
                <a:spcPts val="2219"/>
              </a:lnSpc>
              <a:buFont typeface="Arial"/>
              <a:buChar char="•"/>
            </a:pPr>
            <a:r>
              <a:rPr lang="en-US" sz="158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📍 </a:t>
            </a:r>
            <a:r>
              <a:rPr lang="en-US" sz="1585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Location Input &amp; Mapping </a:t>
            </a:r>
            <a:r>
              <a:rPr lang="en-US" sz="158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– Users can enter their address or pin their location for site‑specific analysis.</a:t>
            </a:r>
          </a:p>
          <a:p>
            <a:pPr marL="342342" lvl="1" indent="-171171" algn="just">
              <a:lnSpc>
                <a:spcPts val="2219"/>
              </a:lnSpc>
              <a:buFont typeface="Arial"/>
              <a:buChar char="•"/>
            </a:pPr>
            <a:r>
              <a:rPr lang="en-US" sz="158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🏠</a:t>
            </a:r>
            <a:r>
              <a:rPr lang="en-US" sz="1585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Roof Area Detection</a:t>
            </a:r>
            <a:r>
              <a:rPr lang="en-US" sz="158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Upload rooftop/open space photos; AI + Computer Vision auto‑detects dimensions.</a:t>
            </a:r>
          </a:p>
          <a:p>
            <a:pPr marL="342342" lvl="1" indent="-171171" algn="just">
              <a:lnSpc>
                <a:spcPts val="2219"/>
              </a:lnSpc>
              <a:buFont typeface="Arial"/>
              <a:buChar char="•"/>
            </a:pPr>
            <a:r>
              <a:rPr lang="en-US" sz="158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🌧️</a:t>
            </a:r>
            <a:r>
              <a:rPr lang="en-US" sz="1585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Rainwater Potential Calculator </a:t>
            </a:r>
            <a:r>
              <a:rPr lang="en-US" sz="158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– Algorithms estimate water harvesting capacity based on rainfall + roof size.</a:t>
            </a:r>
          </a:p>
          <a:p>
            <a:pPr marL="342342" lvl="1" indent="-171171" algn="just">
              <a:lnSpc>
                <a:spcPts val="2219"/>
              </a:lnSpc>
              <a:buFont typeface="Arial"/>
              <a:buChar char="•"/>
            </a:pPr>
            <a:r>
              <a:rPr lang="en-US" sz="158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📊</a:t>
            </a:r>
            <a:r>
              <a:rPr lang="en-US" sz="1585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Feasibility Report Generation</a:t>
            </a:r>
            <a:r>
              <a:rPr lang="en-US" sz="158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Instant, personalized reports with system sizing, cost, and recharge potential.</a:t>
            </a:r>
          </a:p>
          <a:p>
            <a:pPr marL="342342" lvl="1" indent="-171171" algn="just">
              <a:lnSpc>
                <a:spcPts val="2219"/>
              </a:lnSpc>
              <a:buFont typeface="Arial"/>
              <a:buChar char="•"/>
            </a:pPr>
            <a:r>
              <a:rPr lang="en-US" sz="158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🌐 </a:t>
            </a:r>
            <a:r>
              <a:rPr lang="en-US" sz="1585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GIS Integration</a:t>
            </a:r>
            <a:r>
              <a:rPr lang="en-US" sz="158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Smart mapping overlays to visualize catchment areas and recharge zones.</a:t>
            </a:r>
          </a:p>
          <a:p>
            <a:pPr marL="342342" lvl="1" indent="-171171" algn="just">
              <a:lnSpc>
                <a:spcPts val="2219"/>
              </a:lnSpc>
              <a:buFont typeface="Arial"/>
              <a:buChar char="•"/>
            </a:pPr>
            <a:r>
              <a:rPr lang="en-US" sz="158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🔄 </a:t>
            </a:r>
            <a:r>
              <a:rPr lang="en-US" sz="1585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Multi‑Language Support</a:t>
            </a:r>
            <a:r>
              <a:rPr lang="en-US" sz="158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Regional language options for accessibility across diverse communities.</a:t>
            </a:r>
          </a:p>
          <a:p>
            <a:pPr marL="342342" lvl="1" indent="-171171" algn="just">
              <a:lnSpc>
                <a:spcPts val="2219"/>
              </a:lnSpc>
              <a:buFont typeface="Arial"/>
              <a:buChar char="•"/>
            </a:pPr>
            <a:r>
              <a:rPr lang="en-US" sz="158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📱 </a:t>
            </a:r>
            <a:r>
              <a:rPr lang="en-US" sz="1585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Cross‑Platform Access –</a:t>
            </a:r>
            <a:r>
              <a:rPr lang="en-US" sz="1585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Works seamlessly on both mobile and web applications.</a:t>
            </a:r>
          </a:p>
          <a:p>
            <a:pPr algn="l">
              <a:lnSpc>
                <a:spcPts val="2219"/>
              </a:lnSpc>
            </a:pPr>
            <a:endParaRPr lang="en-US" sz="1585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CFCF9">
                <a:alpha val="100000"/>
              </a:srgbClr>
            </a:gs>
            <a:gs pos="74000">
              <a:srgbClr val="E4E1C6">
                <a:alpha val="100000"/>
              </a:srgbClr>
            </a:gs>
            <a:gs pos="83000">
              <a:srgbClr val="E4E1C6">
                <a:alpha val="100000"/>
              </a:srgbClr>
            </a:gs>
            <a:gs pos="100000">
              <a:srgbClr val="EDEBD9">
                <a:alpha val="100000"/>
              </a:srgb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827520"/>
            <a:ext cx="9753600" cy="487680"/>
            <a:chOff x="0" y="0"/>
            <a:chExt cx="13004800" cy="6502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6756606"/>
            <a:ext cx="9753600" cy="70399"/>
            <a:chOff x="0" y="0"/>
            <a:chExt cx="13004800" cy="938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04800" cy="93853"/>
            </a:xfrm>
            <a:custGeom>
              <a:avLst/>
              <a:gdLst/>
              <a:ahLst/>
              <a:cxnLst/>
              <a:rect l="l" t="t" r="r" b="b"/>
              <a:pathLst>
                <a:path w="13004800" h="93853">
                  <a:moveTo>
                    <a:pt x="0" y="0"/>
                  </a:moveTo>
                  <a:lnTo>
                    <a:pt x="13004800" y="0"/>
                  </a:lnTo>
                  <a:lnTo>
                    <a:pt x="13004800" y="93853"/>
                  </a:lnTo>
                  <a:lnTo>
                    <a:pt x="0" y="93853"/>
                  </a:lnTo>
                  <a:close/>
                </a:path>
              </a:pathLst>
            </a:custGeom>
            <a:solidFill>
              <a:srgbClr val="E4831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1024623"/>
            <a:ext cx="9751057" cy="426787"/>
            <a:chOff x="0" y="0"/>
            <a:chExt cx="13001409" cy="5690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01371" cy="569087"/>
            </a:xfrm>
            <a:custGeom>
              <a:avLst/>
              <a:gdLst/>
              <a:ahLst/>
              <a:cxnLst/>
              <a:rect l="l" t="t" r="r" b="b"/>
              <a:pathLst>
                <a:path w="13001371" h="569087">
                  <a:moveTo>
                    <a:pt x="0" y="0"/>
                  </a:moveTo>
                  <a:lnTo>
                    <a:pt x="13001371" y="0"/>
                  </a:lnTo>
                  <a:lnTo>
                    <a:pt x="13001371" y="569087"/>
                  </a:lnTo>
                  <a:lnTo>
                    <a:pt x="0" y="569087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/>
          <p:cNvSpPr/>
          <p:nvPr/>
        </p:nvSpPr>
        <p:spPr>
          <a:xfrm>
            <a:off x="1704423" y="-13545"/>
            <a:ext cx="6195993" cy="842353"/>
          </a:xfrm>
          <a:custGeom>
            <a:avLst/>
            <a:gdLst/>
            <a:ahLst/>
            <a:cxnLst/>
            <a:rect l="l" t="t" r="r" b="b"/>
            <a:pathLst>
              <a:path w="6195993" h="842353">
                <a:moveTo>
                  <a:pt x="0" y="0"/>
                </a:moveTo>
                <a:lnTo>
                  <a:pt x="6195993" y="0"/>
                </a:lnTo>
                <a:lnTo>
                  <a:pt x="6195993" y="842353"/>
                </a:lnTo>
                <a:lnTo>
                  <a:pt x="0" y="8423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65221" b="-32358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2543" y="6827520"/>
            <a:ext cx="9751057" cy="487680"/>
            <a:chOff x="0" y="0"/>
            <a:chExt cx="13001409" cy="6502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001371" cy="650240"/>
            </a:xfrm>
            <a:custGeom>
              <a:avLst/>
              <a:gdLst/>
              <a:ahLst/>
              <a:cxnLst/>
              <a:rect l="l" t="t" r="r" b="b"/>
              <a:pathLst>
                <a:path w="13001371" h="650240">
                  <a:moveTo>
                    <a:pt x="0" y="0"/>
                  </a:moveTo>
                  <a:lnTo>
                    <a:pt x="13001371" y="0"/>
                  </a:lnTo>
                  <a:lnTo>
                    <a:pt x="13001371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" y="6756606"/>
            <a:ext cx="9751057" cy="68275"/>
            <a:chOff x="0" y="0"/>
            <a:chExt cx="13001409" cy="910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001371" cy="91059"/>
            </a:xfrm>
            <a:custGeom>
              <a:avLst/>
              <a:gdLst/>
              <a:ahLst/>
              <a:cxnLst/>
              <a:rect l="l" t="t" r="r" b="b"/>
              <a:pathLst>
                <a:path w="13001371" h="91059">
                  <a:moveTo>
                    <a:pt x="0" y="0"/>
                  </a:moveTo>
                  <a:lnTo>
                    <a:pt x="13001371" y="0"/>
                  </a:lnTo>
                  <a:lnTo>
                    <a:pt x="13001371" y="91059"/>
                  </a:lnTo>
                  <a:lnTo>
                    <a:pt x="0" y="91059"/>
                  </a:lnTo>
                  <a:close/>
                </a:path>
              </a:pathLst>
            </a:custGeom>
            <a:solidFill>
              <a:srgbClr val="E4831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Freeform 13"/>
          <p:cNvSpPr/>
          <p:nvPr/>
        </p:nvSpPr>
        <p:spPr>
          <a:xfrm>
            <a:off x="1704423" y="-104804"/>
            <a:ext cx="5850188" cy="1038415"/>
          </a:xfrm>
          <a:custGeom>
            <a:avLst/>
            <a:gdLst/>
            <a:ahLst/>
            <a:cxnLst/>
            <a:rect l="l" t="t" r="r" b="b"/>
            <a:pathLst>
              <a:path w="5850188" h="1038415">
                <a:moveTo>
                  <a:pt x="0" y="0"/>
                </a:moveTo>
                <a:lnTo>
                  <a:pt x="5850188" y="0"/>
                </a:lnTo>
                <a:lnTo>
                  <a:pt x="5850188" y="1038416"/>
                </a:lnTo>
                <a:lnTo>
                  <a:pt x="0" y="1038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4149" b="-685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230127" y="939694"/>
            <a:ext cx="3226982" cy="444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  <a:spcBef>
                <a:spcPct val="0"/>
              </a:spcBef>
            </a:pPr>
            <a:r>
              <a:rPr lang="en-US" sz="192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Non-Functional Requirements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2425" y="1689535"/>
            <a:ext cx="9326206" cy="4597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5"/>
              </a:lnSpc>
            </a:pPr>
            <a:endParaRPr dirty="0"/>
          </a:p>
          <a:p>
            <a:pPr algn="just">
              <a:lnSpc>
                <a:spcPts val="2425"/>
              </a:lnSpc>
            </a:pPr>
            <a:r>
              <a:rPr lang="en-US" sz="173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🚀 </a:t>
            </a:r>
            <a:r>
              <a:rPr lang="en-US" sz="1732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Non‑Functional Requirements (How the App Should Perform)</a:t>
            </a:r>
          </a:p>
          <a:p>
            <a:pPr algn="just">
              <a:lnSpc>
                <a:spcPts val="2425"/>
              </a:lnSpc>
            </a:pPr>
            <a:endParaRPr lang="en-US" sz="1732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374104" lvl="1" indent="-187052" algn="just">
              <a:lnSpc>
                <a:spcPts val="2425"/>
              </a:lnSpc>
              <a:buFont typeface="Arial"/>
              <a:buChar char="•"/>
            </a:pPr>
            <a:r>
              <a:rPr lang="en-US" sz="173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⚡</a:t>
            </a:r>
            <a:r>
              <a:rPr lang="en-US" sz="1732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High Performance</a:t>
            </a:r>
            <a:r>
              <a:rPr lang="en-US" sz="173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Quick processing of images and data for real‑time results.</a:t>
            </a:r>
          </a:p>
          <a:p>
            <a:pPr marL="374104" lvl="1" indent="-187052" algn="just">
              <a:lnSpc>
                <a:spcPts val="2425"/>
              </a:lnSpc>
              <a:buFont typeface="Arial"/>
              <a:buChar char="•"/>
            </a:pPr>
            <a:r>
              <a:rPr lang="en-US" sz="173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🔒</a:t>
            </a:r>
            <a:r>
              <a:rPr lang="en-US" sz="1732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Data Security</a:t>
            </a:r>
            <a:r>
              <a:rPr lang="en-US" sz="173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Secure handling of user location and photos with privacy protection.</a:t>
            </a:r>
          </a:p>
          <a:p>
            <a:pPr marL="374104" lvl="1" indent="-187052" algn="just">
              <a:lnSpc>
                <a:spcPts val="2425"/>
              </a:lnSpc>
              <a:buFont typeface="Arial"/>
              <a:buChar char="•"/>
            </a:pPr>
            <a:r>
              <a:rPr lang="en-US" sz="173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🎨 </a:t>
            </a:r>
            <a:r>
              <a:rPr lang="en-US" sz="1732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User‑Friendly UI/UX </a:t>
            </a:r>
            <a:r>
              <a:rPr lang="en-US" sz="173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– Clean, intuitive design that simplifies technical concepts into easy steps.</a:t>
            </a:r>
          </a:p>
          <a:p>
            <a:pPr marL="374104" lvl="1" indent="-187052" algn="just">
              <a:lnSpc>
                <a:spcPts val="2425"/>
              </a:lnSpc>
              <a:buFont typeface="Arial"/>
              <a:buChar char="•"/>
            </a:pPr>
            <a:r>
              <a:rPr lang="en-US" sz="173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🌍 </a:t>
            </a:r>
            <a:r>
              <a:rPr lang="en-US" sz="1732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Scalability</a:t>
            </a:r>
            <a:r>
              <a:rPr lang="en-US" sz="173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Capable of supporting large user bases across different regions.</a:t>
            </a:r>
          </a:p>
          <a:p>
            <a:pPr marL="374104" lvl="1" indent="-187052" algn="just">
              <a:lnSpc>
                <a:spcPts val="2425"/>
              </a:lnSpc>
              <a:buFont typeface="Arial"/>
              <a:buChar char="•"/>
            </a:pPr>
            <a:r>
              <a:rPr lang="en-US" sz="173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🛠️ </a:t>
            </a:r>
            <a:r>
              <a:rPr lang="en-US" sz="1732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Reliability</a:t>
            </a:r>
            <a:r>
              <a:rPr lang="en-US" sz="173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– Consistent accuracy in roof detection and water potential estimation.</a:t>
            </a:r>
          </a:p>
          <a:p>
            <a:pPr marL="374104" lvl="1" indent="-187052" algn="just">
              <a:lnSpc>
                <a:spcPts val="2425"/>
              </a:lnSpc>
              <a:buFont typeface="Arial"/>
              <a:buChar char="•"/>
            </a:pPr>
            <a:r>
              <a:rPr lang="en-US" sz="173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🔧</a:t>
            </a:r>
            <a:r>
              <a:rPr lang="en-US" sz="1732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Maintainability </a:t>
            </a:r>
            <a:r>
              <a:rPr lang="en-US" sz="173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– Easy updates and integration of new features without disrupting service.</a:t>
            </a:r>
          </a:p>
          <a:p>
            <a:pPr marL="374104" lvl="1" indent="-187052" algn="just">
              <a:lnSpc>
                <a:spcPts val="2425"/>
              </a:lnSpc>
              <a:buFont typeface="Arial"/>
              <a:buChar char="•"/>
            </a:pPr>
            <a:r>
              <a:rPr lang="en-US" sz="173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📶 </a:t>
            </a:r>
            <a:r>
              <a:rPr lang="en-US" sz="1732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Offline Support </a:t>
            </a:r>
            <a:r>
              <a:rPr lang="en-US" sz="173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– Basic calculations available even without internet connectivity.</a:t>
            </a:r>
          </a:p>
          <a:p>
            <a:pPr algn="l">
              <a:lnSpc>
                <a:spcPts val="2425"/>
              </a:lnSpc>
            </a:pPr>
            <a:endParaRPr lang="en-US" sz="1732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CFCF9">
                <a:alpha val="100000"/>
              </a:srgbClr>
            </a:gs>
            <a:gs pos="74000">
              <a:srgbClr val="E4E1C6">
                <a:alpha val="100000"/>
              </a:srgbClr>
            </a:gs>
            <a:gs pos="83000">
              <a:srgbClr val="E4E1C6">
                <a:alpha val="100000"/>
              </a:srgbClr>
            </a:gs>
            <a:gs pos="100000">
              <a:srgbClr val="EDEBD9">
                <a:alpha val="100000"/>
              </a:srgb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827520"/>
            <a:ext cx="9753600" cy="487680"/>
            <a:chOff x="0" y="0"/>
            <a:chExt cx="13004800" cy="6502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6756606"/>
            <a:ext cx="9753600" cy="70399"/>
            <a:chOff x="0" y="0"/>
            <a:chExt cx="13004800" cy="938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04800" cy="93853"/>
            </a:xfrm>
            <a:custGeom>
              <a:avLst/>
              <a:gdLst/>
              <a:ahLst/>
              <a:cxnLst/>
              <a:rect l="l" t="t" r="r" b="b"/>
              <a:pathLst>
                <a:path w="13004800" h="93853">
                  <a:moveTo>
                    <a:pt x="0" y="0"/>
                  </a:moveTo>
                  <a:lnTo>
                    <a:pt x="13004800" y="0"/>
                  </a:lnTo>
                  <a:lnTo>
                    <a:pt x="13004800" y="93853"/>
                  </a:lnTo>
                  <a:lnTo>
                    <a:pt x="0" y="93853"/>
                  </a:lnTo>
                  <a:close/>
                </a:path>
              </a:pathLst>
            </a:custGeom>
            <a:solidFill>
              <a:srgbClr val="E4831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1024623"/>
            <a:ext cx="9751057" cy="426787"/>
            <a:chOff x="0" y="0"/>
            <a:chExt cx="13001409" cy="5690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01371" cy="569087"/>
            </a:xfrm>
            <a:custGeom>
              <a:avLst/>
              <a:gdLst/>
              <a:ahLst/>
              <a:cxnLst/>
              <a:rect l="l" t="t" r="r" b="b"/>
              <a:pathLst>
                <a:path w="13001371" h="569087">
                  <a:moveTo>
                    <a:pt x="0" y="0"/>
                  </a:moveTo>
                  <a:lnTo>
                    <a:pt x="13001371" y="0"/>
                  </a:lnTo>
                  <a:lnTo>
                    <a:pt x="13001371" y="569087"/>
                  </a:lnTo>
                  <a:lnTo>
                    <a:pt x="0" y="569087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Freeform 8"/>
          <p:cNvSpPr/>
          <p:nvPr/>
        </p:nvSpPr>
        <p:spPr>
          <a:xfrm>
            <a:off x="1704423" y="-13545"/>
            <a:ext cx="6195993" cy="842353"/>
          </a:xfrm>
          <a:custGeom>
            <a:avLst/>
            <a:gdLst/>
            <a:ahLst/>
            <a:cxnLst/>
            <a:rect l="l" t="t" r="r" b="b"/>
            <a:pathLst>
              <a:path w="6195993" h="842353">
                <a:moveTo>
                  <a:pt x="0" y="0"/>
                </a:moveTo>
                <a:lnTo>
                  <a:pt x="6195993" y="0"/>
                </a:lnTo>
                <a:lnTo>
                  <a:pt x="6195993" y="842353"/>
                </a:lnTo>
                <a:lnTo>
                  <a:pt x="0" y="8423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65221" b="-32358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2543" y="6827520"/>
            <a:ext cx="9751057" cy="487680"/>
            <a:chOff x="0" y="0"/>
            <a:chExt cx="13001409" cy="6502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001371" cy="650240"/>
            </a:xfrm>
            <a:custGeom>
              <a:avLst/>
              <a:gdLst/>
              <a:ahLst/>
              <a:cxnLst/>
              <a:rect l="l" t="t" r="r" b="b"/>
              <a:pathLst>
                <a:path w="13001371" h="650240">
                  <a:moveTo>
                    <a:pt x="0" y="0"/>
                  </a:moveTo>
                  <a:lnTo>
                    <a:pt x="13001371" y="0"/>
                  </a:lnTo>
                  <a:lnTo>
                    <a:pt x="13001371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BD582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" y="6756606"/>
            <a:ext cx="9751057" cy="68275"/>
            <a:chOff x="0" y="0"/>
            <a:chExt cx="13001409" cy="910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001371" cy="91059"/>
            </a:xfrm>
            <a:custGeom>
              <a:avLst/>
              <a:gdLst/>
              <a:ahLst/>
              <a:cxnLst/>
              <a:rect l="l" t="t" r="r" b="b"/>
              <a:pathLst>
                <a:path w="13001371" h="91059">
                  <a:moveTo>
                    <a:pt x="0" y="0"/>
                  </a:moveTo>
                  <a:lnTo>
                    <a:pt x="13001371" y="0"/>
                  </a:lnTo>
                  <a:lnTo>
                    <a:pt x="13001371" y="91059"/>
                  </a:lnTo>
                  <a:lnTo>
                    <a:pt x="0" y="91059"/>
                  </a:lnTo>
                  <a:close/>
                </a:path>
              </a:pathLst>
            </a:custGeom>
            <a:solidFill>
              <a:srgbClr val="E48312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Freeform 13"/>
          <p:cNvSpPr/>
          <p:nvPr/>
        </p:nvSpPr>
        <p:spPr>
          <a:xfrm>
            <a:off x="1932984" y="0"/>
            <a:ext cx="5850188" cy="770763"/>
          </a:xfrm>
          <a:custGeom>
            <a:avLst/>
            <a:gdLst/>
            <a:ahLst/>
            <a:cxnLst/>
            <a:rect l="l" t="t" r="r" b="b"/>
            <a:pathLst>
              <a:path w="5850188" h="770763">
                <a:moveTo>
                  <a:pt x="0" y="0"/>
                </a:moveTo>
                <a:lnTo>
                  <a:pt x="5850189" y="0"/>
                </a:lnTo>
                <a:lnTo>
                  <a:pt x="5850189" y="770763"/>
                </a:lnTo>
                <a:lnTo>
                  <a:pt x="0" y="7707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4149" b="-4395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-138461" y="939694"/>
            <a:ext cx="1842884" cy="444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sz="192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9222" y="1654456"/>
            <a:ext cx="9282419" cy="43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43"/>
              </a:lnSpc>
            </a:pPr>
            <a:r>
              <a:rPr lang="en-US" sz="1746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💧 </a:t>
            </a:r>
            <a:r>
              <a:rPr lang="en-US" sz="1746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Smart &amp; Automated Evaluation</a:t>
            </a:r>
            <a:r>
              <a:rPr lang="en-US" sz="1746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→ The proposed solution eliminates manual errors by leveraging AI, GIS, and automation for accurate rooftop rainwater harvesting assessment.</a:t>
            </a:r>
          </a:p>
          <a:p>
            <a:pPr algn="just">
              <a:lnSpc>
                <a:spcPts val="3143"/>
              </a:lnSpc>
            </a:pPr>
            <a:r>
              <a:rPr lang="en-US" sz="1746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⚡</a:t>
            </a:r>
            <a:r>
              <a:rPr lang="en-US" sz="1746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Instant &amp; Location-Specific Insights</a:t>
            </a:r>
            <a:r>
              <a:rPr lang="en-US" sz="1746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→ Real-time feasibility analysis based on rainfall data, roof geometry, and site conditions enables better decision-making.</a:t>
            </a:r>
          </a:p>
          <a:p>
            <a:pPr algn="just">
              <a:lnSpc>
                <a:spcPts val="3143"/>
              </a:lnSpc>
              <a:spcBef>
                <a:spcPct val="0"/>
              </a:spcBef>
            </a:pPr>
            <a:r>
              <a:rPr lang="en-US" sz="1746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📱</a:t>
            </a:r>
            <a:r>
              <a:rPr lang="en-US" sz="1746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User-Friendly &amp; Actionable</a:t>
            </a:r>
            <a:r>
              <a:rPr lang="en-US" sz="1746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→ Clear, visual reports replace complex manuals, making water conservation accessible to households and communities.</a:t>
            </a:r>
          </a:p>
          <a:p>
            <a:pPr algn="just">
              <a:lnSpc>
                <a:spcPts val="3143"/>
              </a:lnSpc>
              <a:spcBef>
                <a:spcPct val="0"/>
              </a:spcBef>
            </a:pPr>
            <a:r>
              <a:rPr lang="en-US" sz="1746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🌍 </a:t>
            </a:r>
            <a:r>
              <a:rPr lang="en-US" sz="1746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Scalable &amp; Inclusive Impact</a:t>
            </a:r>
            <a:r>
              <a:rPr lang="en-US" sz="1746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→ Designed to scale across regions with multilingual support, benefiting both urban and rural users.</a:t>
            </a:r>
          </a:p>
          <a:p>
            <a:pPr algn="just">
              <a:lnSpc>
                <a:spcPts val="3143"/>
              </a:lnSpc>
              <a:spcBef>
                <a:spcPct val="0"/>
              </a:spcBef>
            </a:pPr>
            <a:r>
              <a:rPr lang="en-US" sz="1746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🚀</a:t>
            </a:r>
            <a:r>
              <a:rPr lang="en-US" sz="1746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Towards Sustainable Water Management</a:t>
            </a:r>
            <a:r>
              <a:rPr lang="en-US" sz="1746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→ By integrating smart technology with environmental responsibility, the system promotes efficient groundwater recharge and long-term water security</a:t>
            </a:r>
          </a:p>
          <a:p>
            <a:pPr algn="l">
              <a:lnSpc>
                <a:spcPts val="3143"/>
              </a:lnSpc>
              <a:spcBef>
                <a:spcPct val="0"/>
              </a:spcBef>
            </a:pPr>
            <a:endParaRPr lang="en-US" sz="1746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812</Words>
  <Application>Microsoft Office PowerPoint</Application>
  <PresentationFormat>Custom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Calibri (MS)</vt:lpstr>
      <vt:lpstr>Canva Sans Bold</vt:lpstr>
      <vt:lpstr>Calibri</vt:lpstr>
      <vt:lpstr>Canva Sans</vt:lpstr>
      <vt:lpstr>Calibri (MS)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FORMAT.pptx</dc:title>
  <dc:creator>Shreya Lathi</dc:creator>
  <cp:lastModifiedBy>subhi tiwari</cp:lastModifiedBy>
  <cp:revision>5</cp:revision>
  <dcterms:created xsi:type="dcterms:W3CDTF">2006-08-16T00:00:00Z</dcterms:created>
  <dcterms:modified xsi:type="dcterms:W3CDTF">2026-04-15T18:02:02Z</dcterms:modified>
  <dc:identifier>DAG8ov74l8U</dc:identifier>
</cp:coreProperties>
</file>